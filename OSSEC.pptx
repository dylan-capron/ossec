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Montserrat"/>
      <p:regular r:id="rId30"/>
      <p:bold r:id="rId31"/>
      <p:italic r:id="rId32"/>
      <p:boldItalic r:id="rId33"/>
    </p:embeddedFont>
    <p:embeddedFont>
      <p:font typeface="Lato"/>
      <p:regular r:id="rId34"/>
      <p:bold r:id="rId35"/>
      <p:italic r:id="rId36"/>
      <p:boldItalic r:id="rId37"/>
    </p:embeddedFont>
    <p:embeddedFont>
      <p:font typeface="Roboto Mono"/>
      <p:regular r:id="rId38"/>
      <p:bold r:id="rId39"/>
      <p:italic r:id="rId40"/>
      <p:boldItalic r:id="rId41"/>
    </p:embeddedFont>
    <p:embeddedFont>
      <p:font typeface="Oswald"/>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italic.fntdata"/><Relationship Id="rId20" Type="http://schemas.openxmlformats.org/officeDocument/2006/relationships/slide" Target="slides/slide15.xml"/><Relationship Id="rId42" Type="http://schemas.openxmlformats.org/officeDocument/2006/relationships/font" Target="fonts/Oswald-regular.fntdata"/><Relationship Id="rId41" Type="http://schemas.openxmlformats.org/officeDocument/2006/relationships/font" Target="fonts/RobotoMono-boldItalic.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Oswald-bold.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fntdata"/><Relationship Id="rId30" Type="http://schemas.openxmlformats.org/officeDocument/2006/relationships/font" Target="fonts/Montserrat-regular.fntdata"/><Relationship Id="rId11" Type="http://schemas.openxmlformats.org/officeDocument/2006/relationships/slide" Target="slides/slide6.xml"/><Relationship Id="rId33" Type="http://schemas.openxmlformats.org/officeDocument/2006/relationships/font" Target="fonts/Montserrat-boldItalic.fntdata"/><Relationship Id="rId10" Type="http://schemas.openxmlformats.org/officeDocument/2006/relationships/slide" Target="slides/slide5.xml"/><Relationship Id="rId32" Type="http://schemas.openxmlformats.org/officeDocument/2006/relationships/font" Target="fonts/Montserrat-italic.fntdata"/><Relationship Id="rId13" Type="http://schemas.openxmlformats.org/officeDocument/2006/relationships/slide" Target="slides/slide8.xml"/><Relationship Id="rId35" Type="http://schemas.openxmlformats.org/officeDocument/2006/relationships/font" Target="fonts/Lato-bold.fntdata"/><Relationship Id="rId12" Type="http://schemas.openxmlformats.org/officeDocument/2006/relationships/slide" Target="slides/slide7.xml"/><Relationship Id="rId34" Type="http://schemas.openxmlformats.org/officeDocument/2006/relationships/font" Target="fonts/Lato-regular.fntdata"/><Relationship Id="rId15" Type="http://schemas.openxmlformats.org/officeDocument/2006/relationships/slide" Target="slides/slide10.xml"/><Relationship Id="rId37" Type="http://schemas.openxmlformats.org/officeDocument/2006/relationships/font" Target="fonts/Lato-boldItalic.fntdata"/><Relationship Id="rId14" Type="http://schemas.openxmlformats.org/officeDocument/2006/relationships/slide" Target="slides/slide9.xml"/><Relationship Id="rId36" Type="http://schemas.openxmlformats.org/officeDocument/2006/relationships/font" Target="fonts/Lato-italic.fntdata"/><Relationship Id="rId17" Type="http://schemas.openxmlformats.org/officeDocument/2006/relationships/slide" Target="slides/slide12.xml"/><Relationship Id="rId39" Type="http://schemas.openxmlformats.org/officeDocument/2006/relationships/font" Target="fonts/RobotoMono-bold.fntdata"/><Relationship Id="rId16" Type="http://schemas.openxmlformats.org/officeDocument/2006/relationships/slide" Target="slides/slide11.xml"/><Relationship Id="rId38" Type="http://schemas.openxmlformats.org/officeDocument/2006/relationships/font" Target="fonts/RobotoMon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401721bfc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401721bfc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401721bfc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401721bfc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401721bfc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e401721bfc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401721bfc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401721bfc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401721bfc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e401721bfc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401721bfc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e401721bfc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e401721bfc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e401721bfc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401721bfc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e401721bfc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e401721bfc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e401721bfc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e401721bfc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e401721bfc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e401721bfc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e401721bfc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e401721bfc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e401721bfc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401721bfc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e401721bfc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e401721bfc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e401721bfc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e401721bfc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e401721bfc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e401721bfc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e401721bfc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e401721bfc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e401721bfc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e401721bfc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e401721bfc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e401721bfc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e401721bfc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e401721bfc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e401721bfc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e401721bfc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e401721bfc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e401721bfc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e401721bfc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e401721bfc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e401721bfc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5.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3.png"/><Relationship Id="rId6"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40.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hyperlink" Target="https://github.com/ossec/ossec-hids/archive/3.7.0.tar.gz" TargetMode="External"/><Relationship Id="rId4" Type="http://schemas.openxmlformats.org/officeDocument/2006/relationships/image" Target="../media/image44.png"/><Relationship Id="rId5" Type="http://schemas.openxmlformats.org/officeDocument/2006/relationships/hyperlink" Target="http://3.7.0.tar.gz" TargetMode="External"/><Relationship Id="rId6"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33.png"/><Relationship Id="rId4" Type="http://schemas.openxmlformats.org/officeDocument/2006/relationships/image" Target="../media/image45.png"/><Relationship Id="rId5" Type="http://schemas.openxmlformats.org/officeDocument/2006/relationships/image" Target="../media/image4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43.png"/><Relationship Id="rId4" Type="http://schemas.openxmlformats.org/officeDocument/2006/relationships/image" Target="../media/image4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38.png"/><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36.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2.png"/><Relationship Id="rId4" Type="http://schemas.openxmlformats.org/officeDocument/2006/relationships/image" Target="../media/image26.png"/><Relationship Id="rId9" Type="http://schemas.openxmlformats.org/officeDocument/2006/relationships/image" Target="../media/image29.png"/><Relationship Id="rId5" Type="http://schemas.openxmlformats.org/officeDocument/2006/relationships/image" Target="../media/image24.png"/><Relationship Id="rId6" Type="http://schemas.openxmlformats.org/officeDocument/2006/relationships/image" Target="../media/image27.png"/><Relationship Id="rId7" Type="http://schemas.openxmlformats.org/officeDocument/2006/relationships/image" Target="../media/image30.png"/><Relationship Id="rId8"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9.png"/><Relationship Id="rId4" Type="http://schemas.openxmlformats.org/officeDocument/2006/relationships/image" Target="../media/image32.png"/><Relationship Id="rId5"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OSSEC</a:t>
            </a:r>
            <a:endParaRPr/>
          </a:p>
        </p:txBody>
      </p:sp>
      <p:sp>
        <p:nvSpPr>
          <p:cNvPr id="135" name="Google Shape;135;p13"/>
          <p:cNvSpPr txBox="1"/>
          <p:nvPr>
            <p:ph idx="1" type="subTitle"/>
          </p:nvPr>
        </p:nvSpPr>
        <p:spPr>
          <a:xfrm>
            <a:off x="4532025" y="3992975"/>
            <a:ext cx="4453200" cy="326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fr"/>
              <a:t>Capron Dylan, Domenico Mandolino, Laurent Fauveau, Safia Meradji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Job 1</a:t>
            </a:r>
            <a:endParaRPr/>
          </a:p>
        </p:txBody>
      </p:sp>
      <p:sp>
        <p:nvSpPr>
          <p:cNvPr id="141" name="Google Shape;141;p14"/>
          <p:cNvSpPr txBox="1"/>
          <p:nvPr/>
        </p:nvSpPr>
        <p:spPr>
          <a:xfrm>
            <a:off x="1297500" y="943125"/>
            <a:ext cx="6666900" cy="416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fr">
                <a:solidFill>
                  <a:schemeClr val="lt1"/>
                </a:solidFill>
                <a:latin typeface="Comic Sans MS"/>
                <a:ea typeface="Comic Sans MS"/>
                <a:cs typeface="Comic Sans MS"/>
                <a:sym typeface="Comic Sans MS"/>
              </a:rPr>
              <a:t>Qu’est-ce qu’OSSEC ?</a:t>
            </a:r>
            <a:endParaRPr b="1">
              <a:solidFill>
                <a:schemeClr val="lt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rPr lang="fr" sz="1300">
                <a:solidFill>
                  <a:schemeClr val="lt1"/>
                </a:solidFill>
                <a:latin typeface="Comic Sans MS"/>
                <a:ea typeface="Comic Sans MS"/>
                <a:cs typeface="Comic Sans MS"/>
                <a:sym typeface="Comic Sans MS"/>
              </a:rPr>
              <a:t>OSSEC (Open Source Security Event Correlator) est un système HIDS permettant de surveiller et détecter des activités suspectes sur un système informatique.</a:t>
            </a:r>
            <a:endParaRPr sz="1300">
              <a:solidFill>
                <a:schemeClr val="lt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rPr lang="fr" sz="1300">
                <a:solidFill>
                  <a:schemeClr val="lt1"/>
                </a:solidFill>
                <a:latin typeface="Comic Sans MS"/>
                <a:ea typeface="Comic Sans MS"/>
                <a:cs typeface="Comic Sans MS"/>
                <a:sym typeface="Comic Sans MS"/>
              </a:rPr>
              <a:t>Contrairement à un IDS réseau qui analyse le trafic réseau, un HIDS fonctionne directement sur les machines afin de surveiller :</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120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Les fichiers système.</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Les logs système.</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Les tentatives de connexion.</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Les modifications suspectes.</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Les rootkits.</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Les comportements anormaux.</a:t>
            </a:r>
            <a:endParaRPr sz="1300">
              <a:solidFill>
                <a:schemeClr val="lt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rPr lang="fr" sz="1300">
                <a:solidFill>
                  <a:schemeClr val="lt1"/>
                </a:solidFill>
                <a:latin typeface="Comic Sans MS"/>
                <a:ea typeface="Comic Sans MS"/>
                <a:cs typeface="Comic Sans MS"/>
                <a:sym typeface="Comic Sans MS"/>
              </a:rPr>
              <a:t>OSSEC fonctionne grâce à une architecture client/serveur :</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120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Le serveur centralise les alertes.</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Les agents surveillent les machines clientes.</a:t>
            </a:r>
            <a:endParaRPr sz="1300">
              <a:solidFill>
                <a:schemeClr val="lt1"/>
              </a:solidFill>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Job 1</a:t>
            </a:r>
            <a:endParaRPr/>
          </a:p>
        </p:txBody>
      </p:sp>
      <p:sp>
        <p:nvSpPr>
          <p:cNvPr id="147" name="Google Shape;147;p15"/>
          <p:cNvSpPr txBox="1"/>
          <p:nvPr/>
        </p:nvSpPr>
        <p:spPr>
          <a:xfrm>
            <a:off x="198800" y="1307850"/>
            <a:ext cx="5480700" cy="392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fr" sz="1500">
                <a:solidFill>
                  <a:schemeClr val="lt1"/>
                </a:solidFill>
                <a:latin typeface="Comic Sans MS"/>
                <a:ea typeface="Comic Sans MS"/>
                <a:cs typeface="Comic Sans MS"/>
                <a:sym typeface="Comic Sans MS"/>
              </a:rPr>
              <a:t>Fonctionnalités principales</a:t>
            </a:r>
            <a:endParaRPr b="1" sz="1500">
              <a:solidFill>
                <a:schemeClr val="lt1"/>
              </a:solidFill>
              <a:latin typeface="Comic Sans MS"/>
              <a:ea typeface="Comic Sans MS"/>
              <a:cs typeface="Comic Sans MS"/>
              <a:sym typeface="Comic Sans MS"/>
            </a:endParaRPr>
          </a:p>
          <a:p>
            <a:pPr indent="0" lvl="0" marL="0" rtl="0" algn="l">
              <a:lnSpc>
                <a:spcPct val="115000"/>
              </a:lnSpc>
              <a:spcBef>
                <a:spcPts val="1400"/>
              </a:spcBef>
              <a:spcAft>
                <a:spcPts val="0"/>
              </a:spcAft>
              <a:buNone/>
            </a:pPr>
            <a:r>
              <a:rPr b="1" lang="fr" sz="1300">
                <a:solidFill>
                  <a:schemeClr val="lt1"/>
                </a:solidFill>
                <a:latin typeface="Comic Sans MS"/>
                <a:ea typeface="Comic Sans MS"/>
                <a:cs typeface="Comic Sans MS"/>
                <a:sym typeface="Comic Sans MS"/>
              </a:rPr>
              <a:t>Surveillance d’intégrité des fichiers (FIM)</a:t>
            </a:r>
            <a:endParaRPr b="1" sz="1300">
              <a:solidFill>
                <a:schemeClr val="lt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rPr lang="fr" sz="1300">
                <a:solidFill>
                  <a:schemeClr val="lt1"/>
                </a:solidFill>
                <a:latin typeface="Comic Sans MS"/>
                <a:ea typeface="Comic Sans MS"/>
                <a:cs typeface="Comic Sans MS"/>
                <a:sym typeface="Comic Sans MS"/>
              </a:rPr>
              <a:t>OSSEC détecte les modifications de fichiers sensibles comme :</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120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/etc/passwd</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/etc/shadow</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fichiers de configuration système</a:t>
            </a:r>
            <a:endParaRPr sz="1300">
              <a:solidFill>
                <a:schemeClr val="lt1"/>
              </a:solidFill>
              <a:latin typeface="Comic Sans MS"/>
              <a:ea typeface="Comic Sans MS"/>
              <a:cs typeface="Comic Sans MS"/>
              <a:sym typeface="Comic Sans MS"/>
            </a:endParaRPr>
          </a:p>
          <a:p>
            <a:pPr indent="0" lvl="0" marL="0" rtl="0" algn="l">
              <a:lnSpc>
                <a:spcPct val="115000"/>
              </a:lnSpc>
              <a:spcBef>
                <a:spcPts val="1400"/>
              </a:spcBef>
              <a:spcAft>
                <a:spcPts val="0"/>
              </a:spcAft>
              <a:buNone/>
            </a:pPr>
            <a:r>
              <a:rPr b="1" lang="fr" sz="1300">
                <a:solidFill>
                  <a:schemeClr val="lt1"/>
                </a:solidFill>
                <a:latin typeface="Comic Sans MS"/>
                <a:ea typeface="Comic Sans MS"/>
                <a:cs typeface="Comic Sans MS"/>
                <a:sym typeface="Comic Sans MS"/>
              </a:rPr>
              <a:t>Analyse des logs</a:t>
            </a:r>
            <a:endParaRPr b="1" sz="1300">
              <a:solidFill>
                <a:schemeClr val="lt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rPr lang="fr" sz="1300">
                <a:solidFill>
                  <a:schemeClr val="lt1"/>
                </a:solidFill>
                <a:latin typeface="Comic Sans MS"/>
                <a:ea typeface="Comic Sans MS"/>
                <a:cs typeface="Comic Sans MS"/>
                <a:sym typeface="Comic Sans MS"/>
              </a:rPr>
              <a:t>OSSEC analyse automatiquement les journaux système afin d’identifier :</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120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Tentatives de connexion échouées.</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Escalades de privilèges.</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Activités suspectes.</a:t>
            </a:r>
            <a:endParaRPr b="1" sz="1300">
              <a:solidFill>
                <a:schemeClr val="lt1"/>
              </a:solidFill>
              <a:latin typeface="Comic Sans MS"/>
              <a:ea typeface="Comic Sans MS"/>
              <a:cs typeface="Comic Sans MS"/>
              <a:sym typeface="Comic Sans MS"/>
            </a:endParaRPr>
          </a:p>
        </p:txBody>
      </p:sp>
      <p:sp>
        <p:nvSpPr>
          <p:cNvPr id="148" name="Google Shape;148;p15"/>
          <p:cNvSpPr txBox="1"/>
          <p:nvPr/>
        </p:nvSpPr>
        <p:spPr>
          <a:xfrm>
            <a:off x="5726875" y="1541075"/>
            <a:ext cx="3310200" cy="332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fr" sz="1300">
                <a:solidFill>
                  <a:schemeClr val="lt1"/>
                </a:solidFill>
                <a:latin typeface="Comic Sans MS"/>
                <a:ea typeface="Comic Sans MS"/>
                <a:cs typeface="Comic Sans MS"/>
                <a:sym typeface="Comic Sans MS"/>
              </a:rPr>
              <a:t>Détection de rootkits</a:t>
            </a:r>
            <a:endParaRPr b="1" sz="1300">
              <a:solidFill>
                <a:schemeClr val="lt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rPr lang="fr" sz="1300">
                <a:solidFill>
                  <a:schemeClr val="lt1"/>
                </a:solidFill>
                <a:latin typeface="Comic Sans MS"/>
                <a:ea typeface="Comic Sans MS"/>
                <a:cs typeface="Comic Sans MS"/>
                <a:sym typeface="Comic Sans MS"/>
              </a:rPr>
              <a:t>OSSEC possède des outils capables de détecter la présence potentielle de rootkits.</a:t>
            </a:r>
            <a:endParaRPr sz="1300">
              <a:solidFill>
                <a:schemeClr val="lt1"/>
              </a:solidFill>
              <a:latin typeface="Comic Sans MS"/>
              <a:ea typeface="Comic Sans MS"/>
              <a:cs typeface="Comic Sans MS"/>
              <a:sym typeface="Comic Sans MS"/>
            </a:endParaRPr>
          </a:p>
          <a:p>
            <a:pPr indent="0" lvl="0" marL="0" rtl="0" algn="l">
              <a:lnSpc>
                <a:spcPct val="115000"/>
              </a:lnSpc>
              <a:spcBef>
                <a:spcPts val="1400"/>
              </a:spcBef>
              <a:spcAft>
                <a:spcPts val="0"/>
              </a:spcAft>
              <a:buNone/>
            </a:pPr>
            <a:r>
              <a:rPr b="1" lang="fr" sz="1300">
                <a:solidFill>
                  <a:schemeClr val="lt1"/>
                </a:solidFill>
                <a:latin typeface="Comic Sans MS"/>
                <a:ea typeface="Comic Sans MS"/>
                <a:cs typeface="Comic Sans MS"/>
                <a:sym typeface="Comic Sans MS"/>
              </a:rPr>
              <a:t>Réponse active</a:t>
            </a:r>
            <a:endParaRPr b="1" sz="1300">
              <a:solidFill>
                <a:schemeClr val="lt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rPr lang="fr" sz="1300">
                <a:solidFill>
                  <a:schemeClr val="lt1"/>
                </a:solidFill>
                <a:latin typeface="Comic Sans MS"/>
                <a:ea typeface="Comic Sans MS"/>
                <a:cs typeface="Comic Sans MS"/>
                <a:sym typeface="Comic Sans MS"/>
              </a:rPr>
              <a:t>OSSEC peut réagir automatiquement à certaines attaques :</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120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Blocage d’adresse IP.</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Désactivation temporaire d’un accès.</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Exécution de scripts de sécurité.</a:t>
            </a:r>
            <a:endParaRPr sz="1300">
              <a:solidFill>
                <a:schemeClr val="lt1"/>
              </a:solidFill>
              <a:latin typeface="Comic Sans MS"/>
              <a:ea typeface="Comic Sans MS"/>
              <a:cs typeface="Comic Sans MS"/>
              <a:sym typeface="Comic Sans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Job 1</a:t>
            </a:r>
            <a:endParaRPr/>
          </a:p>
        </p:txBody>
      </p:sp>
      <p:sp>
        <p:nvSpPr>
          <p:cNvPr id="154" name="Google Shape;154;p16"/>
          <p:cNvSpPr txBox="1"/>
          <p:nvPr/>
        </p:nvSpPr>
        <p:spPr>
          <a:xfrm>
            <a:off x="1297500" y="943125"/>
            <a:ext cx="6666900" cy="187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fr" sz="1500">
                <a:solidFill>
                  <a:schemeClr val="lt1"/>
                </a:solidFill>
                <a:latin typeface="Comic Sans MS"/>
                <a:ea typeface="Comic Sans MS"/>
                <a:cs typeface="Comic Sans MS"/>
                <a:sym typeface="Comic Sans MS"/>
              </a:rPr>
              <a:t>Importance d’un HIDS</a:t>
            </a:r>
            <a:endParaRPr b="1" sz="1500">
              <a:solidFill>
                <a:schemeClr val="lt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rPr lang="fr" sz="1300">
                <a:solidFill>
                  <a:schemeClr val="lt1"/>
                </a:solidFill>
                <a:latin typeface="Comic Sans MS"/>
                <a:ea typeface="Comic Sans MS"/>
                <a:cs typeface="Comic Sans MS"/>
                <a:sym typeface="Comic Sans MS"/>
              </a:rPr>
              <a:t>Un HIDS permet :</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120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Une détection rapide des comportements suspects.</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Une surveillance continue des machines.</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Une meilleure traçabilité des incidents.</a:t>
            </a:r>
            <a:endParaRPr sz="1300">
              <a:solidFill>
                <a:schemeClr val="lt1"/>
              </a:solidFill>
              <a:latin typeface="Comic Sans MS"/>
              <a:ea typeface="Comic Sans MS"/>
              <a:cs typeface="Comic Sans MS"/>
              <a:sym typeface="Comic Sans MS"/>
            </a:endParaRPr>
          </a:p>
          <a:p>
            <a:pPr indent="-311150" lvl="0" marL="457200" rtl="0" algn="l">
              <a:lnSpc>
                <a:spcPct val="115000"/>
              </a:lnSpc>
              <a:spcBef>
                <a:spcPts val="0"/>
              </a:spcBef>
              <a:spcAft>
                <a:spcPts val="0"/>
              </a:spcAft>
              <a:buClr>
                <a:schemeClr val="lt1"/>
              </a:buClr>
              <a:buSzPts val="1300"/>
              <a:buFont typeface="Comic Sans MS"/>
              <a:buChar char="●"/>
            </a:pPr>
            <a:r>
              <a:rPr lang="fr" sz="1300">
                <a:solidFill>
                  <a:schemeClr val="lt1"/>
                </a:solidFill>
                <a:latin typeface="Comic Sans MS"/>
                <a:ea typeface="Comic Sans MS"/>
                <a:cs typeface="Comic Sans MS"/>
                <a:sym typeface="Comic Sans MS"/>
              </a:rPr>
              <a:t>Une amélioration globale de la sécurité du système d’information.</a:t>
            </a:r>
            <a:endParaRPr b="1" sz="1300">
              <a:solidFill>
                <a:schemeClr val="lt1"/>
              </a:solidFill>
              <a:latin typeface="Comic Sans MS"/>
              <a:ea typeface="Comic Sans MS"/>
              <a:cs typeface="Comic Sans MS"/>
              <a:sym typeface="Comic Sans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0" y="0"/>
            <a:ext cx="5339100" cy="702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fr"/>
              <a:t>Job 02 – Installation hybride</a:t>
            </a:r>
            <a:endParaRPr/>
          </a:p>
        </p:txBody>
      </p:sp>
      <p:pic>
        <p:nvPicPr>
          <p:cNvPr id="160" name="Google Shape;160;p17"/>
          <p:cNvPicPr preferRelativeResize="0"/>
          <p:nvPr/>
        </p:nvPicPr>
        <p:blipFill rotWithShape="1">
          <a:blip r:embed="rId3">
            <a:alphaModFix/>
          </a:blip>
          <a:srcRect b="0" l="0" r="0" t="0"/>
          <a:stretch/>
        </p:blipFill>
        <p:spPr>
          <a:xfrm>
            <a:off x="84325" y="794125"/>
            <a:ext cx="4424825" cy="1911050"/>
          </a:xfrm>
          <a:prstGeom prst="rect">
            <a:avLst/>
          </a:prstGeom>
          <a:noFill/>
          <a:ln>
            <a:noFill/>
          </a:ln>
        </p:spPr>
      </p:pic>
      <p:pic>
        <p:nvPicPr>
          <p:cNvPr id="161" name="Google Shape;161;p17"/>
          <p:cNvPicPr preferRelativeResize="0"/>
          <p:nvPr/>
        </p:nvPicPr>
        <p:blipFill>
          <a:blip r:embed="rId4">
            <a:alphaModFix/>
          </a:blip>
          <a:stretch>
            <a:fillRect/>
          </a:stretch>
        </p:blipFill>
        <p:spPr>
          <a:xfrm>
            <a:off x="84325" y="2797000"/>
            <a:ext cx="4424825" cy="962877"/>
          </a:xfrm>
          <a:prstGeom prst="rect">
            <a:avLst/>
          </a:prstGeom>
          <a:noFill/>
          <a:ln>
            <a:noFill/>
          </a:ln>
        </p:spPr>
      </p:pic>
      <p:pic>
        <p:nvPicPr>
          <p:cNvPr id="162" name="Google Shape;162;p17"/>
          <p:cNvPicPr preferRelativeResize="0"/>
          <p:nvPr/>
        </p:nvPicPr>
        <p:blipFill>
          <a:blip r:embed="rId5">
            <a:alphaModFix/>
          </a:blip>
          <a:stretch>
            <a:fillRect/>
          </a:stretch>
        </p:blipFill>
        <p:spPr>
          <a:xfrm>
            <a:off x="84325" y="3851700"/>
            <a:ext cx="4424825" cy="411612"/>
          </a:xfrm>
          <a:prstGeom prst="rect">
            <a:avLst/>
          </a:prstGeom>
          <a:noFill/>
          <a:ln>
            <a:noFill/>
          </a:ln>
        </p:spPr>
      </p:pic>
      <p:pic>
        <p:nvPicPr>
          <p:cNvPr id="163" name="Google Shape;163;p17"/>
          <p:cNvPicPr preferRelativeResize="0"/>
          <p:nvPr/>
        </p:nvPicPr>
        <p:blipFill>
          <a:blip r:embed="rId6">
            <a:alphaModFix/>
          </a:blip>
          <a:stretch>
            <a:fillRect/>
          </a:stretch>
        </p:blipFill>
        <p:spPr>
          <a:xfrm>
            <a:off x="84323" y="4355125"/>
            <a:ext cx="4424825" cy="595368"/>
          </a:xfrm>
          <a:prstGeom prst="rect">
            <a:avLst/>
          </a:prstGeom>
          <a:noFill/>
          <a:ln>
            <a:noFill/>
          </a:ln>
        </p:spPr>
      </p:pic>
      <p:pic>
        <p:nvPicPr>
          <p:cNvPr id="164" name="Google Shape;164;p17"/>
          <p:cNvPicPr preferRelativeResize="0"/>
          <p:nvPr/>
        </p:nvPicPr>
        <p:blipFill>
          <a:blip r:embed="rId7">
            <a:alphaModFix/>
          </a:blip>
          <a:stretch>
            <a:fillRect/>
          </a:stretch>
        </p:blipFill>
        <p:spPr>
          <a:xfrm>
            <a:off x="4777625" y="794125"/>
            <a:ext cx="4295074" cy="1319925"/>
          </a:xfrm>
          <a:prstGeom prst="rect">
            <a:avLst/>
          </a:prstGeom>
          <a:noFill/>
          <a:ln>
            <a:noFill/>
          </a:ln>
        </p:spPr>
      </p:pic>
      <p:pic>
        <p:nvPicPr>
          <p:cNvPr id="165" name="Google Shape;165;p17"/>
          <p:cNvPicPr preferRelativeResize="0"/>
          <p:nvPr/>
        </p:nvPicPr>
        <p:blipFill>
          <a:blip r:embed="rId8">
            <a:alphaModFix/>
          </a:blip>
          <a:stretch>
            <a:fillRect/>
          </a:stretch>
        </p:blipFill>
        <p:spPr>
          <a:xfrm>
            <a:off x="4777625" y="2205875"/>
            <a:ext cx="3389725" cy="2432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8"/>
          <p:cNvSpPr txBox="1"/>
          <p:nvPr>
            <p:ph type="title"/>
          </p:nvPr>
        </p:nvSpPr>
        <p:spPr>
          <a:xfrm>
            <a:off x="0" y="0"/>
            <a:ext cx="5339100" cy="702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fr"/>
              <a:t>Job 02 – Installation hybride</a:t>
            </a:r>
            <a:endParaRPr/>
          </a:p>
        </p:txBody>
      </p:sp>
      <p:pic>
        <p:nvPicPr>
          <p:cNvPr id="171" name="Google Shape;171;p18"/>
          <p:cNvPicPr preferRelativeResize="0"/>
          <p:nvPr/>
        </p:nvPicPr>
        <p:blipFill>
          <a:blip r:embed="rId3">
            <a:alphaModFix/>
          </a:blip>
          <a:stretch>
            <a:fillRect/>
          </a:stretch>
        </p:blipFill>
        <p:spPr>
          <a:xfrm>
            <a:off x="97225" y="702300"/>
            <a:ext cx="4474774" cy="1337972"/>
          </a:xfrm>
          <a:prstGeom prst="rect">
            <a:avLst/>
          </a:prstGeom>
          <a:noFill/>
          <a:ln>
            <a:noFill/>
          </a:ln>
        </p:spPr>
      </p:pic>
      <p:pic>
        <p:nvPicPr>
          <p:cNvPr id="172" name="Google Shape;172;p18"/>
          <p:cNvPicPr preferRelativeResize="0"/>
          <p:nvPr/>
        </p:nvPicPr>
        <p:blipFill>
          <a:blip r:embed="rId4">
            <a:alphaModFix/>
          </a:blip>
          <a:stretch>
            <a:fillRect/>
          </a:stretch>
        </p:blipFill>
        <p:spPr>
          <a:xfrm>
            <a:off x="97225" y="2142475"/>
            <a:ext cx="4474774" cy="1062945"/>
          </a:xfrm>
          <a:prstGeom prst="rect">
            <a:avLst/>
          </a:prstGeom>
          <a:noFill/>
          <a:ln>
            <a:noFill/>
          </a:ln>
        </p:spPr>
      </p:pic>
      <p:pic>
        <p:nvPicPr>
          <p:cNvPr id="173" name="Google Shape;173;p18"/>
          <p:cNvPicPr preferRelativeResize="0"/>
          <p:nvPr/>
        </p:nvPicPr>
        <p:blipFill>
          <a:blip r:embed="rId5">
            <a:alphaModFix/>
          </a:blip>
          <a:stretch>
            <a:fillRect/>
          </a:stretch>
        </p:blipFill>
        <p:spPr>
          <a:xfrm>
            <a:off x="97225" y="3374125"/>
            <a:ext cx="4259150" cy="148575"/>
          </a:xfrm>
          <a:prstGeom prst="rect">
            <a:avLst/>
          </a:prstGeom>
          <a:noFill/>
          <a:ln>
            <a:noFill/>
          </a:ln>
        </p:spPr>
      </p:pic>
      <p:pic>
        <p:nvPicPr>
          <p:cNvPr id="174" name="Google Shape;174;p18"/>
          <p:cNvPicPr preferRelativeResize="0"/>
          <p:nvPr/>
        </p:nvPicPr>
        <p:blipFill>
          <a:blip r:embed="rId6">
            <a:alphaModFix/>
          </a:blip>
          <a:stretch>
            <a:fillRect/>
          </a:stretch>
        </p:blipFill>
        <p:spPr>
          <a:xfrm>
            <a:off x="97225" y="3672375"/>
            <a:ext cx="3781425" cy="981075"/>
          </a:xfrm>
          <a:prstGeom prst="rect">
            <a:avLst/>
          </a:prstGeom>
          <a:noFill/>
          <a:ln>
            <a:noFill/>
          </a:ln>
        </p:spPr>
      </p:pic>
      <p:pic>
        <p:nvPicPr>
          <p:cNvPr id="175" name="Google Shape;175;p18"/>
          <p:cNvPicPr preferRelativeResize="0"/>
          <p:nvPr/>
        </p:nvPicPr>
        <p:blipFill>
          <a:blip r:embed="rId7">
            <a:alphaModFix/>
          </a:blip>
          <a:stretch>
            <a:fillRect/>
          </a:stretch>
        </p:blipFill>
        <p:spPr>
          <a:xfrm>
            <a:off x="4627050" y="702311"/>
            <a:ext cx="4474774" cy="2148189"/>
          </a:xfrm>
          <a:prstGeom prst="rect">
            <a:avLst/>
          </a:prstGeom>
          <a:noFill/>
          <a:ln>
            <a:noFill/>
          </a:ln>
        </p:spPr>
      </p:pic>
      <p:pic>
        <p:nvPicPr>
          <p:cNvPr id="176" name="Google Shape;176;p18"/>
          <p:cNvPicPr preferRelativeResize="0"/>
          <p:nvPr/>
        </p:nvPicPr>
        <p:blipFill>
          <a:blip r:embed="rId8">
            <a:alphaModFix/>
          </a:blip>
          <a:stretch>
            <a:fillRect/>
          </a:stretch>
        </p:blipFill>
        <p:spPr>
          <a:xfrm>
            <a:off x="4627050" y="2967300"/>
            <a:ext cx="4095600" cy="238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9"/>
          <p:cNvSpPr txBox="1"/>
          <p:nvPr>
            <p:ph type="title"/>
          </p:nvPr>
        </p:nvSpPr>
        <p:spPr>
          <a:xfrm>
            <a:off x="0" y="0"/>
            <a:ext cx="5339100" cy="702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fr"/>
              <a:t>Job 02 – Installation hybride</a:t>
            </a:r>
            <a:endParaRPr/>
          </a:p>
        </p:txBody>
      </p:sp>
      <p:pic>
        <p:nvPicPr>
          <p:cNvPr id="182" name="Google Shape;182;p19"/>
          <p:cNvPicPr preferRelativeResize="0"/>
          <p:nvPr/>
        </p:nvPicPr>
        <p:blipFill>
          <a:blip r:embed="rId3">
            <a:alphaModFix/>
          </a:blip>
          <a:stretch>
            <a:fillRect/>
          </a:stretch>
        </p:blipFill>
        <p:spPr>
          <a:xfrm>
            <a:off x="94075" y="657975"/>
            <a:ext cx="3922624" cy="1642025"/>
          </a:xfrm>
          <a:prstGeom prst="rect">
            <a:avLst/>
          </a:prstGeom>
          <a:noFill/>
          <a:ln>
            <a:noFill/>
          </a:ln>
        </p:spPr>
      </p:pic>
      <p:pic>
        <p:nvPicPr>
          <p:cNvPr id="183" name="Google Shape;183;p19"/>
          <p:cNvPicPr preferRelativeResize="0"/>
          <p:nvPr/>
        </p:nvPicPr>
        <p:blipFill>
          <a:blip r:embed="rId4">
            <a:alphaModFix/>
          </a:blip>
          <a:stretch>
            <a:fillRect/>
          </a:stretch>
        </p:blipFill>
        <p:spPr>
          <a:xfrm>
            <a:off x="94075" y="2401025"/>
            <a:ext cx="2889650" cy="2450775"/>
          </a:xfrm>
          <a:prstGeom prst="rect">
            <a:avLst/>
          </a:prstGeom>
          <a:noFill/>
          <a:ln>
            <a:noFill/>
          </a:ln>
        </p:spPr>
      </p:pic>
      <p:pic>
        <p:nvPicPr>
          <p:cNvPr id="184" name="Google Shape;184;p19"/>
          <p:cNvPicPr preferRelativeResize="0"/>
          <p:nvPr/>
        </p:nvPicPr>
        <p:blipFill>
          <a:blip r:embed="rId5">
            <a:alphaModFix/>
          </a:blip>
          <a:stretch>
            <a:fillRect/>
          </a:stretch>
        </p:blipFill>
        <p:spPr>
          <a:xfrm>
            <a:off x="4113050" y="657975"/>
            <a:ext cx="4243197" cy="2114550"/>
          </a:xfrm>
          <a:prstGeom prst="rect">
            <a:avLst/>
          </a:prstGeom>
          <a:noFill/>
          <a:ln>
            <a:noFill/>
          </a:ln>
        </p:spPr>
      </p:pic>
      <p:pic>
        <p:nvPicPr>
          <p:cNvPr id="185" name="Google Shape;185;p19"/>
          <p:cNvPicPr preferRelativeResize="0"/>
          <p:nvPr/>
        </p:nvPicPr>
        <p:blipFill>
          <a:blip r:embed="rId6">
            <a:alphaModFix/>
          </a:blip>
          <a:stretch>
            <a:fillRect/>
          </a:stretch>
        </p:blipFill>
        <p:spPr>
          <a:xfrm>
            <a:off x="4113050" y="2836175"/>
            <a:ext cx="4872150" cy="412775"/>
          </a:xfrm>
          <a:prstGeom prst="rect">
            <a:avLst/>
          </a:prstGeom>
          <a:noFill/>
          <a:ln>
            <a:noFill/>
          </a:ln>
        </p:spPr>
      </p:pic>
      <p:sp>
        <p:nvSpPr>
          <p:cNvPr id="186" name="Google Shape;186;p19"/>
          <p:cNvSpPr txBox="1"/>
          <p:nvPr/>
        </p:nvSpPr>
        <p:spPr>
          <a:xfrm>
            <a:off x="4113050" y="3420200"/>
            <a:ext cx="44637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fr" sz="1200">
                <a:solidFill>
                  <a:srgbClr val="188038"/>
                </a:solidFill>
                <a:latin typeface="Roboto Mono"/>
                <a:ea typeface="Roboto Mono"/>
                <a:cs typeface="Roboto Mono"/>
                <a:sym typeface="Roboto Mono"/>
              </a:rPr>
              <a:t>*:1514</a:t>
            </a:r>
            <a:r>
              <a:rPr b="1" lang="fr" sz="1200"/>
              <a:t> </a:t>
            </a:r>
            <a:r>
              <a:rPr b="1" lang="fr" sz="1200">
                <a:solidFill>
                  <a:schemeClr val="lt1"/>
                </a:solidFill>
              </a:rPr>
              <a:t>: </a:t>
            </a:r>
            <a:r>
              <a:rPr lang="fr" sz="1200">
                <a:solidFill>
                  <a:schemeClr val="lt1"/>
                </a:solidFill>
              </a:rPr>
              <a:t>Prêt à recevoir les alertes chiffrées et sécurisées provenant d'agents OSSEC officiels.</a:t>
            </a:r>
            <a:endParaRPr sz="1200">
              <a:solidFill>
                <a:schemeClr val="lt1"/>
              </a:solidFill>
            </a:endParaRPr>
          </a:p>
          <a:p>
            <a:pPr indent="0" lvl="0" marL="0" rtl="0" algn="l">
              <a:lnSpc>
                <a:spcPct val="115000"/>
              </a:lnSpc>
              <a:spcBef>
                <a:spcPts val="0"/>
              </a:spcBef>
              <a:spcAft>
                <a:spcPts val="0"/>
              </a:spcAft>
              <a:buNone/>
            </a:pPr>
            <a:r>
              <a:rPr b="1" lang="fr" sz="1200">
                <a:solidFill>
                  <a:srgbClr val="188038"/>
                </a:solidFill>
                <a:latin typeface="Roboto Mono"/>
                <a:ea typeface="Roboto Mono"/>
                <a:cs typeface="Roboto Mono"/>
                <a:sym typeface="Roboto Mono"/>
              </a:rPr>
              <a:t>*:514</a:t>
            </a:r>
            <a:r>
              <a:rPr b="1" lang="fr" sz="1200"/>
              <a:t> </a:t>
            </a:r>
            <a:r>
              <a:rPr b="1" lang="fr" sz="1200">
                <a:solidFill>
                  <a:schemeClr val="lt1"/>
                </a:solidFill>
              </a:rPr>
              <a:t>: </a:t>
            </a:r>
            <a:r>
              <a:rPr lang="fr" sz="1200">
                <a:solidFill>
                  <a:schemeClr val="lt1"/>
                </a:solidFill>
              </a:rPr>
              <a:t>Prêt à recevoir les logs bruts d'équipements tiers (routeurs, pare-feu, switchs) via le protocole Syslog standard.</a:t>
            </a:r>
            <a:endParaRPr sz="12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0"/>
          <p:cNvSpPr txBox="1"/>
          <p:nvPr>
            <p:ph type="title"/>
          </p:nvPr>
        </p:nvSpPr>
        <p:spPr>
          <a:xfrm>
            <a:off x="0" y="0"/>
            <a:ext cx="5339100" cy="702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fr"/>
              <a:t>Job 02 – Installation hybride</a:t>
            </a:r>
            <a:endParaRPr/>
          </a:p>
        </p:txBody>
      </p:sp>
      <p:sp>
        <p:nvSpPr>
          <p:cNvPr id="192" name="Google Shape;192;p20"/>
          <p:cNvSpPr txBox="1"/>
          <p:nvPr/>
        </p:nvSpPr>
        <p:spPr>
          <a:xfrm>
            <a:off x="87525" y="855625"/>
            <a:ext cx="4289100" cy="25305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0"/>
              </a:spcAft>
              <a:buNone/>
            </a:pPr>
            <a:r>
              <a:rPr b="1" lang="fr" sz="1200">
                <a:solidFill>
                  <a:schemeClr val="dk2"/>
                </a:solidFill>
              </a:rPr>
              <a:t>La collecte :</a:t>
            </a:r>
            <a:r>
              <a:rPr lang="fr" sz="1200">
                <a:solidFill>
                  <a:schemeClr val="dk2"/>
                </a:solidFill>
              </a:rPr>
              <a:t> </a:t>
            </a:r>
            <a:endParaRPr sz="1200">
              <a:solidFill>
                <a:schemeClr val="dk2"/>
              </a:solidFill>
            </a:endParaRPr>
          </a:p>
          <a:p>
            <a:pPr indent="0" lvl="0" marL="457200" rtl="0" algn="l">
              <a:lnSpc>
                <a:spcPct val="115000"/>
              </a:lnSpc>
              <a:spcBef>
                <a:spcPts val="1200"/>
              </a:spcBef>
              <a:spcAft>
                <a:spcPts val="0"/>
              </a:spcAft>
              <a:buNone/>
            </a:pPr>
            <a:r>
              <a:rPr lang="fr" sz="1200">
                <a:solidFill>
                  <a:schemeClr val="dk2"/>
                </a:solidFill>
                <a:latin typeface="Courier New"/>
                <a:ea typeface="Courier New"/>
                <a:cs typeface="Courier New"/>
                <a:sym typeface="Courier New"/>
              </a:rPr>
              <a:t>OSSEC lit en temps réel les fichiers que tu lui as demander de surveiller (les logs système, les modifications de fichiers, etc.).</a:t>
            </a:r>
            <a:endParaRPr sz="1200">
              <a:solidFill>
                <a:schemeClr val="dk2"/>
              </a:solidFill>
              <a:latin typeface="Courier New"/>
              <a:ea typeface="Courier New"/>
              <a:cs typeface="Courier New"/>
              <a:sym typeface="Courier New"/>
            </a:endParaRPr>
          </a:p>
          <a:p>
            <a:pPr indent="0" lvl="0" marL="457200" rtl="0" algn="l">
              <a:lnSpc>
                <a:spcPct val="115000"/>
              </a:lnSpc>
              <a:spcBef>
                <a:spcPts val="1200"/>
              </a:spcBef>
              <a:spcAft>
                <a:spcPts val="0"/>
              </a:spcAft>
              <a:buNone/>
            </a:pPr>
            <a:r>
              <a:rPr b="1" lang="fr" sz="1200">
                <a:solidFill>
                  <a:schemeClr val="dk2"/>
                </a:solidFill>
              </a:rPr>
              <a:t>L'analyse :</a:t>
            </a:r>
            <a:endParaRPr b="1" sz="1200">
              <a:solidFill>
                <a:schemeClr val="dk2"/>
              </a:solidFill>
            </a:endParaRPr>
          </a:p>
          <a:p>
            <a:pPr indent="0" lvl="0" marL="457200" rtl="0" algn="l">
              <a:lnSpc>
                <a:spcPct val="115000"/>
              </a:lnSpc>
              <a:spcBef>
                <a:spcPts val="1200"/>
              </a:spcBef>
              <a:spcAft>
                <a:spcPts val="1200"/>
              </a:spcAft>
              <a:buNone/>
            </a:pPr>
            <a:r>
              <a:rPr lang="fr" sz="1200">
                <a:solidFill>
                  <a:schemeClr val="dk2"/>
                </a:solidFill>
                <a:latin typeface="Courier New"/>
                <a:ea typeface="Courier New"/>
                <a:cs typeface="Courier New"/>
                <a:sym typeface="Courier New"/>
              </a:rPr>
              <a:t>Il passe chaque ligne de log au tamis de son moteur de règles (les fichiers XML dans</a:t>
            </a:r>
            <a:r>
              <a:rPr b="1" lang="fr" sz="1200">
                <a:solidFill>
                  <a:schemeClr val="dk2"/>
                </a:solidFill>
                <a:latin typeface="Courier New"/>
                <a:ea typeface="Courier New"/>
                <a:cs typeface="Courier New"/>
                <a:sym typeface="Courier New"/>
              </a:rPr>
              <a:t> </a:t>
            </a:r>
            <a:r>
              <a:rPr b="1" lang="fr" sz="1200">
                <a:solidFill>
                  <a:srgbClr val="188038"/>
                </a:solidFill>
                <a:latin typeface="Courier New"/>
                <a:ea typeface="Courier New"/>
                <a:cs typeface="Courier New"/>
                <a:sym typeface="Courier New"/>
              </a:rPr>
              <a:t>/var/ossec/rules/</a:t>
            </a:r>
            <a:r>
              <a:rPr lang="fr" sz="1200">
                <a:solidFill>
                  <a:schemeClr val="lt1"/>
                </a:solidFill>
                <a:latin typeface="Courier New"/>
                <a:ea typeface="Courier New"/>
                <a:cs typeface="Courier New"/>
                <a:sym typeface="Courier New"/>
              </a:rPr>
              <a:t>).</a:t>
            </a:r>
            <a:endParaRPr sz="1200">
              <a:solidFill>
                <a:schemeClr val="lt1"/>
              </a:solidFill>
              <a:latin typeface="Courier New"/>
              <a:ea typeface="Courier New"/>
              <a:cs typeface="Courier New"/>
              <a:sym typeface="Courier New"/>
            </a:endParaRPr>
          </a:p>
        </p:txBody>
      </p:sp>
      <p:sp>
        <p:nvSpPr>
          <p:cNvPr id="193" name="Google Shape;193;p20"/>
          <p:cNvSpPr txBox="1"/>
          <p:nvPr/>
        </p:nvSpPr>
        <p:spPr>
          <a:xfrm>
            <a:off x="4201425" y="698550"/>
            <a:ext cx="4783800" cy="37464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0"/>
              </a:spcAft>
              <a:buNone/>
            </a:pPr>
            <a:r>
              <a:rPr b="1" lang="fr" sz="1200">
                <a:solidFill>
                  <a:schemeClr val="lt1"/>
                </a:solidFill>
              </a:rPr>
              <a:t>L'alerte : </a:t>
            </a:r>
            <a:endParaRPr b="1" sz="1200">
              <a:solidFill>
                <a:schemeClr val="lt1"/>
              </a:solidFill>
            </a:endParaRPr>
          </a:p>
          <a:p>
            <a:pPr indent="0" lvl="0" marL="457200" rtl="0" algn="l">
              <a:lnSpc>
                <a:spcPct val="115000"/>
              </a:lnSpc>
              <a:spcBef>
                <a:spcPts val="1200"/>
              </a:spcBef>
              <a:spcAft>
                <a:spcPts val="0"/>
              </a:spcAft>
              <a:buNone/>
            </a:pPr>
            <a:r>
              <a:rPr lang="fr" sz="1200">
                <a:solidFill>
                  <a:schemeClr val="lt1"/>
                </a:solidFill>
                <a:latin typeface="Courier New"/>
                <a:ea typeface="Courier New"/>
                <a:cs typeface="Courier New"/>
                <a:sym typeface="Courier New"/>
              </a:rPr>
              <a:t>Si un log correspond à une règle de sécurité (par exemple : 5 échecs de connexion SSH en moins de 10 secondes), OSSEC génère une alerte qu'il écrit en texte brut dans le fichier </a:t>
            </a:r>
            <a:r>
              <a:rPr b="1" lang="fr" sz="1200">
                <a:solidFill>
                  <a:srgbClr val="188038"/>
                </a:solidFill>
                <a:latin typeface="Courier New"/>
                <a:ea typeface="Courier New"/>
                <a:cs typeface="Courier New"/>
                <a:sym typeface="Courier New"/>
              </a:rPr>
              <a:t>/var/ossec/logs/alerts/alerts.log</a:t>
            </a:r>
            <a:r>
              <a:rPr b="1" lang="fr" sz="1200">
                <a:solidFill>
                  <a:schemeClr val="lt1"/>
                </a:solidFill>
                <a:latin typeface="Courier New"/>
                <a:ea typeface="Courier New"/>
                <a:cs typeface="Courier New"/>
                <a:sym typeface="Courier New"/>
              </a:rPr>
              <a:t>.</a:t>
            </a:r>
            <a:endParaRPr sz="1200">
              <a:solidFill>
                <a:schemeClr val="lt1"/>
              </a:solidFill>
              <a:latin typeface="Courier New"/>
              <a:ea typeface="Courier New"/>
              <a:cs typeface="Courier New"/>
              <a:sym typeface="Courier New"/>
            </a:endParaRPr>
          </a:p>
          <a:p>
            <a:pPr indent="0" lvl="0" marL="457200" rtl="0" algn="l">
              <a:lnSpc>
                <a:spcPct val="115000"/>
              </a:lnSpc>
              <a:spcBef>
                <a:spcPts val="1200"/>
              </a:spcBef>
              <a:spcAft>
                <a:spcPts val="0"/>
              </a:spcAft>
              <a:buNone/>
            </a:pPr>
            <a:r>
              <a:rPr b="1" lang="fr" sz="1200">
                <a:solidFill>
                  <a:schemeClr val="lt1"/>
                </a:solidFill>
              </a:rPr>
              <a:t>La réaction :</a:t>
            </a:r>
            <a:endParaRPr b="1" sz="1200">
              <a:solidFill>
                <a:schemeClr val="lt1"/>
              </a:solidFill>
            </a:endParaRPr>
          </a:p>
          <a:p>
            <a:pPr indent="0" lvl="0" marL="457200" rtl="0" algn="l">
              <a:lnSpc>
                <a:spcPct val="115000"/>
              </a:lnSpc>
              <a:spcBef>
                <a:spcPts val="1200"/>
              </a:spcBef>
              <a:spcAft>
                <a:spcPts val="0"/>
              </a:spcAft>
              <a:buNone/>
            </a:pPr>
            <a:r>
              <a:rPr lang="fr" sz="1200">
                <a:solidFill>
                  <a:schemeClr val="lt1"/>
                </a:solidFill>
                <a:latin typeface="Courier New"/>
                <a:ea typeface="Courier New"/>
                <a:cs typeface="Courier New"/>
                <a:sym typeface="Courier New"/>
              </a:rPr>
              <a:t> Si la règle est critique, le module </a:t>
            </a:r>
            <a:r>
              <a:rPr i="1" lang="fr" sz="1200">
                <a:solidFill>
                  <a:schemeClr val="lt1"/>
                </a:solidFill>
                <a:latin typeface="Courier New"/>
                <a:ea typeface="Courier New"/>
                <a:cs typeface="Courier New"/>
                <a:sym typeface="Courier New"/>
              </a:rPr>
              <a:t>Active Response</a:t>
            </a:r>
            <a:r>
              <a:rPr lang="fr" sz="1200">
                <a:solidFill>
                  <a:schemeClr val="lt1"/>
                </a:solidFill>
                <a:latin typeface="Courier New"/>
                <a:ea typeface="Courier New"/>
                <a:cs typeface="Courier New"/>
                <a:sym typeface="Courier New"/>
              </a:rPr>
              <a:t> déclenche un script (comme bloquer l'IP avec le pare-feu).</a:t>
            </a:r>
            <a:endParaRPr sz="1200">
              <a:solidFill>
                <a:schemeClr val="lt1"/>
              </a:solidFill>
              <a:latin typeface="Courier New"/>
              <a:ea typeface="Courier New"/>
              <a:cs typeface="Courier New"/>
              <a:sym typeface="Courier New"/>
            </a:endParaRPr>
          </a:p>
          <a:p>
            <a:pPr indent="0" lvl="0" marL="0" rtl="0" algn="l">
              <a:lnSpc>
                <a:spcPct val="115000"/>
              </a:lnSpc>
              <a:spcBef>
                <a:spcPts val="1200"/>
              </a:spcBef>
              <a:spcAft>
                <a:spcPts val="1200"/>
              </a:spcAft>
              <a:buNone/>
            </a:pPr>
            <a:r>
              <a:rPr lang="fr" sz="1200">
                <a:solidFill>
                  <a:schemeClr val="lt1"/>
                </a:solidFill>
                <a:latin typeface="Courier New"/>
                <a:ea typeface="Courier New"/>
                <a:cs typeface="Courier New"/>
                <a:sym typeface="Courier New"/>
              </a:rPr>
              <a:t>Pour l'administrateur, le travail consiste donc à lire fichier de log ou à utiliser des commandes comme </a:t>
            </a:r>
            <a:r>
              <a:rPr b="1" lang="fr" sz="1200">
                <a:solidFill>
                  <a:srgbClr val="188038"/>
                </a:solidFill>
                <a:latin typeface="Courier New"/>
                <a:ea typeface="Courier New"/>
                <a:cs typeface="Courier New"/>
                <a:sym typeface="Courier New"/>
              </a:rPr>
              <a:t>/var/ossec/bin/ossec-reportd</a:t>
            </a:r>
            <a:r>
              <a:rPr b="1" lang="fr" sz="1200">
                <a:latin typeface="Courier New"/>
                <a:ea typeface="Courier New"/>
                <a:cs typeface="Courier New"/>
                <a:sym typeface="Courier New"/>
              </a:rPr>
              <a:t> </a:t>
            </a:r>
            <a:r>
              <a:rPr lang="fr" sz="1200">
                <a:solidFill>
                  <a:schemeClr val="lt1"/>
                </a:solidFill>
                <a:latin typeface="Courier New"/>
                <a:ea typeface="Courier New"/>
                <a:cs typeface="Courier New"/>
                <a:sym typeface="Courier New"/>
              </a:rPr>
              <a:t>pour générer des rapports textuels des alertes de la journée.</a:t>
            </a:r>
            <a:endParaRPr sz="1200">
              <a:solidFill>
                <a:schemeClr val="lt1"/>
              </a:solidFill>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1"/>
          <p:cNvSpPr txBox="1"/>
          <p:nvPr>
            <p:ph idx="4294967295" type="title"/>
          </p:nvPr>
        </p:nvSpPr>
        <p:spPr>
          <a:xfrm>
            <a:off x="205275" y="315975"/>
            <a:ext cx="8938800" cy="57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Job 03 – Installation de l’agent OSSEC sur VM Cliente</a:t>
            </a:r>
            <a:endParaRPr/>
          </a:p>
        </p:txBody>
      </p:sp>
      <p:sp>
        <p:nvSpPr>
          <p:cNvPr id="199" name="Google Shape;199;p21"/>
          <p:cNvSpPr txBox="1"/>
          <p:nvPr/>
        </p:nvSpPr>
        <p:spPr>
          <a:xfrm>
            <a:off x="0" y="1013275"/>
            <a:ext cx="36471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a:solidFill>
                  <a:schemeClr val="lt1"/>
                </a:solidFill>
                <a:latin typeface="Oswald"/>
                <a:ea typeface="Oswald"/>
                <a:cs typeface="Oswald"/>
                <a:sym typeface="Oswald"/>
              </a:rPr>
              <a:t>Sur la VM 109 (OSSEC Cliente) IP : 192.168.30.101</a:t>
            </a:r>
            <a:endParaRPr>
              <a:solidFill>
                <a:schemeClr val="lt1"/>
              </a:solidFill>
              <a:latin typeface="Oswald"/>
              <a:ea typeface="Oswald"/>
              <a:cs typeface="Oswald"/>
              <a:sym typeface="Oswald"/>
            </a:endParaRPr>
          </a:p>
        </p:txBody>
      </p:sp>
      <p:pic>
        <p:nvPicPr>
          <p:cNvPr id="200" name="Google Shape;200;p21"/>
          <p:cNvPicPr preferRelativeResize="0"/>
          <p:nvPr/>
        </p:nvPicPr>
        <p:blipFill>
          <a:blip r:embed="rId3">
            <a:alphaModFix/>
          </a:blip>
          <a:stretch>
            <a:fillRect/>
          </a:stretch>
        </p:blipFill>
        <p:spPr>
          <a:xfrm>
            <a:off x="72525" y="1753775"/>
            <a:ext cx="3808050" cy="2043200"/>
          </a:xfrm>
          <a:prstGeom prst="rect">
            <a:avLst/>
          </a:prstGeom>
          <a:noFill/>
          <a:ln>
            <a:noFill/>
          </a:ln>
        </p:spPr>
      </p:pic>
      <p:sp>
        <p:nvSpPr>
          <p:cNvPr id="201" name="Google Shape;201;p21"/>
          <p:cNvSpPr txBox="1"/>
          <p:nvPr/>
        </p:nvSpPr>
        <p:spPr>
          <a:xfrm>
            <a:off x="72525" y="1413475"/>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apt update</a:t>
            </a:r>
            <a:endParaRPr>
              <a:solidFill>
                <a:schemeClr val="lt1"/>
              </a:solidFill>
            </a:endParaRPr>
          </a:p>
        </p:txBody>
      </p:sp>
      <p:pic>
        <p:nvPicPr>
          <p:cNvPr id="202" name="Google Shape;202;p21"/>
          <p:cNvPicPr preferRelativeResize="0"/>
          <p:nvPr/>
        </p:nvPicPr>
        <p:blipFill>
          <a:blip r:embed="rId4">
            <a:alphaModFix/>
          </a:blip>
          <a:stretch>
            <a:fillRect/>
          </a:stretch>
        </p:blipFill>
        <p:spPr>
          <a:xfrm>
            <a:off x="4311825" y="1753775"/>
            <a:ext cx="4229250" cy="2255125"/>
          </a:xfrm>
          <a:prstGeom prst="rect">
            <a:avLst/>
          </a:prstGeom>
          <a:noFill/>
          <a:ln>
            <a:noFill/>
          </a:ln>
        </p:spPr>
      </p:pic>
      <p:sp>
        <p:nvSpPr>
          <p:cNvPr id="203" name="Google Shape;203;p21"/>
          <p:cNvSpPr txBox="1"/>
          <p:nvPr/>
        </p:nvSpPr>
        <p:spPr>
          <a:xfrm>
            <a:off x="4311825" y="4063075"/>
            <a:ext cx="45276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fr" sz="1200">
                <a:solidFill>
                  <a:schemeClr val="lt1"/>
                </a:solidFill>
                <a:latin typeface="Oswald"/>
                <a:ea typeface="Oswald"/>
                <a:cs typeface="Oswald"/>
                <a:sym typeface="Oswald"/>
              </a:rPr>
              <a:t>apt install build-essential gcc make wget tar zlib1g-dev libpcre2-dev libssl-dev libsystemd-dev -y</a:t>
            </a:r>
            <a:endParaRPr i="1" sz="1200">
              <a:solidFill>
                <a:schemeClr val="lt1"/>
              </a:solidFill>
              <a:latin typeface="Oswald"/>
              <a:ea typeface="Oswald"/>
              <a:cs typeface="Oswald"/>
              <a:sym typeface="Oswa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txBox="1"/>
          <p:nvPr>
            <p:ph idx="4294967295" type="title"/>
          </p:nvPr>
        </p:nvSpPr>
        <p:spPr>
          <a:xfrm>
            <a:off x="205275" y="315975"/>
            <a:ext cx="8938800" cy="57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Job 03 – Installation de l’agent OSSEC sur VM Cliente</a:t>
            </a:r>
            <a:endParaRPr/>
          </a:p>
        </p:txBody>
      </p:sp>
      <p:sp>
        <p:nvSpPr>
          <p:cNvPr id="209" name="Google Shape;209;p22"/>
          <p:cNvSpPr txBox="1"/>
          <p:nvPr/>
        </p:nvSpPr>
        <p:spPr>
          <a:xfrm>
            <a:off x="205275" y="886875"/>
            <a:ext cx="78855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cd /tmp</a:t>
            </a:r>
            <a:endParaRPr i="1">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wget</a:t>
            </a:r>
            <a:r>
              <a:rPr i="1" lang="fr">
                <a:latin typeface="Oswald"/>
                <a:ea typeface="Oswald"/>
                <a:cs typeface="Oswald"/>
                <a:sym typeface="Oswald"/>
              </a:rPr>
              <a:t> </a:t>
            </a:r>
            <a:r>
              <a:rPr i="1" lang="fr" u="sng">
                <a:solidFill>
                  <a:srgbClr val="1155CC"/>
                </a:solidFill>
                <a:latin typeface="Oswald"/>
                <a:ea typeface="Oswald"/>
                <a:cs typeface="Oswald"/>
                <a:sym typeface="Oswald"/>
                <a:hlinkClick r:id="rId3">
                  <a:extLst>
                    <a:ext uri="{A12FA001-AC4F-418D-AE19-62706E023703}">
                      <ahyp:hlinkClr val="tx"/>
                    </a:ext>
                  </a:extLst>
                </a:hlinkClick>
              </a:rPr>
              <a:t>https://github.com/ossec/ossec-hids/archive/3.7.0.tar.gz</a:t>
            </a:r>
            <a:endParaRPr i="1">
              <a:latin typeface="Oswald"/>
              <a:ea typeface="Oswald"/>
              <a:cs typeface="Oswald"/>
              <a:sym typeface="Oswald"/>
            </a:endParaRPr>
          </a:p>
        </p:txBody>
      </p:sp>
      <p:pic>
        <p:nvPicPr>
          <p:cNvPr id="210" name="Google Shape;210;p22"/>
          <p:cNvPicPr preferRelativeResize="0"/>
          <p:nvPr/>
        </p:nvPicPr>
        <p:blipFill rotWithShape="1">
          <a:blip r:embed="rId4">
            <a:alphaModFix/>
          </a:blip>
          <a:srcRect b="0" l="4916" r="4709" t="0"/>
          <a:stretch/>
        </p:blipFill>
        <p:spPr>
          <a:xfrm>
            <a:off x="253875" y="1534875"/>
            <a:ext cx="3519750" cy="2193025"/>
          </a:xfrm>
          <a:prstGeom prst="rect">
            <a:avLst/>
          </a:prstGeom>
          <a:noFill/>
          <a:ln>
            <a:noFill/>
          </a:ln>
        </p:spPr>
      </p:pic>
      <p:sp>
        <p:nvSpPr>
          <p:cNvPr id="211" name="Google Shape;211;p22"/>
          <p:cNvSpPr txBox="1"/>
          <p:nvPr/>
        </p:nvSpPr>
        <p:spPr>
          <a:xfrm>
            <a:off x="5234400" y="1134675"/>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tar -xzf </a:t>
            </a:r>
            <a:r>
              <a:rPr i="1" lang="fr" u="sng">
                <a:solidFill>
                  <a:srgbClr val="1155CC"/>
                </a:solidFill>
                <a:latin typeface="Oswald"/>
                <a:ea typeface="Oswald"/>
                <a:cs typeface="Oswald"/>
                <a:sym typeface="Oswald"/>
                <a:hlinkClick r:id="rId5">
                  <a:extLst>
                    <a:ext uri="{A12FA001-AC4F-418D-AE19-62706E023703}">
                      <ahyp:hlinkClr val="tx"/>
                    </a:ext>
                  </a:extLst>
                </a:hlinkClick>
              </a:rPr>
              <a:t>3.7.0.tar.gz</a:t>
            </a:r>
            <a:endParaRPr i="1">
              <a:latin typeface="Oswald"/>
              <a:ea typeface="Oswald"/>
              <a:cs typeface="Oswald"/>
              <a:sym typeface="Oswald"/>
            </a:endParaRPr>
          </a:p>
        </p:txBody>
      </p:sp>
      <p:pic>
        <p:nvPicPr>
          <p:cNvPr id="212" name="Google Shape;212;p22"/>
          <p:cNvPicPr preferRelativeResize="0"/>
          <p:nvPr/>
        </p:nvPicPr>
        <p:blipFill rotWithShape="1">
          <a:blip r:embed="rId6">
            <a:alphaModFix/>
          </a:blip>
          <a:srcRect b="0" l="4817" r="4971" t="0"/>
          <a:stretch/>
        </p:blipFill>
        <p:spPr>
          <a:xfrm>
            <a:off x="5319575" y="1534875"/>
            <a:ext cx="3603674" cy="2249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ph idx="4294967295" type="title"/>
          </p:nvPr>
        </p:nvSpPr>
        <p:spPr>
          <a:xfrm>
            <a:off x="205275" y="315975"/>
            <a:ext cx="8938800" cy="57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Job 03 – Installation de l’agent OSSEC sur VM Cliente</a:t>
            </a:r>
            <a:endParaRPr/>
          </a:p>
        </p:txBody>
      </p:sp>
      <p:sp>
        <p:nvSpPr>
          <p:cNvPr id="218" name="Google Shape;218;p23"/>
          <p:cNvSpPr txBox="1"/>
          <p:nvPr/>
        </p:nvSpPr>
        <p:spPr>
          <a:xfrm>
            <a:off x="205275" y="886875"/>
            <a:ext cx="20418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cd /tmp/ossec-hids-3.7.0</a:t>
            </a:r>
            <a:endParaRPr i="1">
              <a:latin typeface="Oswald"/>
              <a:ea typeface="Oswald"/>
              <a:cs typeface="Oswald"/>
              <a:sym typeface="Oswald"/>
            </a:endParaRPr>
          </a:p>
        </p:txBody>
      </p:sp>
      <p:sp>
        <p:nvSpPr>
          <p:cNvPr id="219" name="Google Shape;219;p23"/>
          <p:cNvSpPr txBox="1"/>
          <p:nvPr/>
        </p:nvSpPr>
        <p:spPr>
          <a:xfrm>
            <a:off x="5195500" y="886875"/>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a:t>
            </a:r>
            <a:r>
              <a:rPr i="1" lang="fr">
                <a:solidFill>
                  <a:srgbClr val="1155CC"/>
                </a:solidFill>
                <a:latin typeface="Oswald"/>
                <a:ea typeface="Oswald"/>
                <a:cs typeface="Oswald"/>
                <a:sym typeface="Oswald"/>
              </a:rPr>
              <a:t>install.sh</a:t>
            </a:r>
            <a:endParaRPr i="1">
              <a:solidFill>
                <a:srgbClr val="1155CC"/>
              </a:solidFill>
              <a:latin typeface="Oswald"/>
              <a:ea typeface="Oswald"/>
              <a:cs typeface="Oswald"/>
              <a:sym typeface="Oswald"/>
            </a:endParaRPr>
          </a:p>
        </p:txBody>
      </p:sp>
      <p:pic>
        <p:nvPicPr>
          <p:cNvPr id="220" name="Google Shape;220;p23"/>
          <p:cNvPicPr preferRelativeResize="0"/>
          <p:nvPr/>
        </p:nvPicPr>
        <p:blipFill rotWithShape="1">
          <a:blip r:embed="rId3">
            <a:alphaModFix/>
          </a:blip>
          <a:srcRect b="48644" l="4817" r="5481" t="0"/>
          <a:stretch/>
        </p:blipFill>
        <p:spPr>
          <a:xfrm>
            <a:off x="205275" y="1377500"/>
            <a:ext cx="4563550" cy="2037450"/>
          </a:xfrm>
          <a:prstGeom prst="rect">
            <a:avLst/>
          </a:prstGeom>
          <a:noFill/>
          <a:ln>
            <a:noFill/>
          </a:ln>
        </p:spPr>
      </p:pic>
      <p:pic>
        <p:nvPicPr>
          <p:cNvPr id="221" name="Google Shape;221;p23"/>
          <p:cNvPicPr preferRelativeResize="0"/>
          <p:nvPr/>
        </p:nvPicPr>
        <p:blipFill rotWithShape="1">
          <a:blip r:embed="rId4">
            <a:alphaModFix/>
          </a:blip>
          <a:srcRect b="0" l="4656" r="5642" t="0"/>
          <a:stretch/>
        </p:blipFill>
        <p:spPr>
          <a:xfrm>
            <a:off x="5251550" y="1287075"/>
            <a:ext cx="3157225" cy="1982025"/>
          </a:xfrm>
          <a:prstGeom prst="rect">
            <a:avLst/>
          </a:prstGeom>
          <a:noFill/>
          <a:ln>
            <a:noFill/>
          </a:ln>
        </p:spPr>
      </p:pic>
      <p:pic>
        <p:nvPicPr>
          <p:cNvPr id="222" name="Google Shape;222;p23"/>
          <p:cNvPicPr preferRelativeResize="0"/>
          <p:nvPr/>
        </p:nvPicPr>
        <p:blipFill rotWithShape="1">
          <a:blip r:embed="rId5">
            <a:alphaModFix/>
          </a:blip>
          <a:srcRect b="0" l="4709" r="5079" t="0"/>
          <a:stretch/>
        </p:blipFill>
        <p:spPr>
          <a:xfrm>
            <a:off x="5251550" y="3334300"/>
            <a:ext cx="2820400" cy="1760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idx="4294967295" type="title"/>
          </p:nvPr>
        </p:nvSpPr>
        <p:spPr>
          <a:xfrm>
            <a:off x="205275" y="315975"/>
            <a:ext cx="8938800" cy="57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Job 03 – Installation de l’agent OSSEC sur VM Cliente</a:t>
            </a:r>
            <a:endParaRPr/>
          </a:p>
        </p:txBody>
      </p:sp>
      <p:sp>
        <p:nvSpPr>
          <p:cNvPr id="228" name="Google Shape;228;p24"/>
          <p:cNvSpPr txBox="1"/>
          <p:nvPr/>
        </p:nvSpPr>
        <p:spPr>
          <a:xfrm>
            <a:off x="205275" y="886875"/>
            <a:ext cx="4366800" cy="139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Pendant l’installation :</a:t>
            </a:r>
            <a:endParaRPr i="1">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choisir agent</a:t>
            </a:r>
            <a:endParaRPr i="1">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Lors de l’installation, le mode “agent” a été sélectionné afin de configurer la VM cliente comme agent OSSEC.</a:t>
            </a:r>
            <a:endParaRPr i="1">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t/>
            </a:r>
            <a:endParaRPr i="1">
              <a:solidFill>
                <a:schemeClr val="lt1"/>
              </a:solidFill>
              <a:latin typeface="Oswald"/>
              <a:ea typeface="Oswald"/>
              <a:cs typeface="Oswald"/>
              <a:sym typeface="Oswald"/>
            </a:endParaRPr>
          </a:p>
        </p:txBody>
      </p:sp>
      <p:sp>
        <p:nvSpPr>
          <p:cNvPr id="229" name="Google Shape;229;p24"/>
          <p:cNvSpPr txBox="1"/>
          <p:nvPr/>
        </p:nvSpPr>
        <p:spPr>
          <a:xfrm>
            <a:off x="5195500" y="886875"/>
            <a:ext cx="36051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Nom de l’agent :</a:t>
            </a:r>
            <a:endParaRPr i="1">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client_agent</a:t>
            </a:r>
            <a:endParaRPr i="1">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Adresse IP du serveur OSSEC :  192.168.30.100</a:t>
            </a:r>
            <a:endParaRPr i="1">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t/>
            </a:r>
            <a:endParaRPr i="1">
              <a:solidFill>
                <a:schemeClr val="lt1"/>
              </a:solidFill>
              <a:latin typeface="Oswald"/>
              <a:ea typeface="Oswald"/>
              <a:cs typeface="Oswald"/>
              <a:sym typeface="Oswald"/>
            </a:endParaRPr>
          </a:p>
        </p:txBody>
      </p:sp>
      <p:pic>
        <p:nvPicPr>
          <p:cNvPr id="230" name="Google Shape;230;p24"/>
          <p:cNvPicPr preferRelativeResize="0"/>
          <p:nvPr/>
        </p:nvPicPr>
        <p:blipFill rotWithShape="1">
          <a:blip r:embed="rId3">
            <a:alphaModFix/>
          </a:blip>
          <a:srcRect b="0" l="4763" r="4682" t="0"/>
          <a:stretch/>
        </p:blipFill>
        <p:spPr>
          <a:xfrm>
            <a:off x="317675" y="2087300"/>
            <a:ext cx="4142025" cy="2575925"/>
          </a:xfrm>
          <a:prstGeom prst="rect">
            <a:avLst/>
          </a:prstGeom>
          <a:noFill/>
          <a:ln>
            <a:noFill/>
          </a:ln>
        </p:spPr>
      </p:pic>
      <p:pic>
        <p:nvPicPr>
          <p:cNvPr id="231" name="Google Shape;231;p24"/>
          <p:cNvPicPr preferRelativeResize="0"/>
          <p:nvPr/>
        </p:nvPicPr>
        <p:blipFill rotWithShape="1">
          <a:blip r:embed="rId4">
            <a:alphaModFix/>
          </a:blip>
          <a:srcRect b="0" l="4826" r="5641" t="0"/>
          <a:stretch/>
        </p:blipFill>
        <p:spPr>
          <a:xfrm>
            <a:off x="5309875" y="1844225"/>
            <a:ext cx="3266950" cy="2054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5"/>
          <p:cNvSpPr txBox="1"/>
          <p:nvPr>
            <p:ph idx="4294967295" type="title"/>
          </p:nvPr>
        </p:nvSpPr>
        <p:spPr>
          <a:xfrm>
            <a:off x="205275" y="315975"/>
            <a:ext cx="8938800" cy="57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Job 03 – Installation de l’agent OSSEC sur VM Cliente</a:t>
            </a:r>
            <a:endParaRPr/>
          </a:p>
        </p:txBody>
      </p:sp>
      <p:sp>
        <p:nvSpPr>
          <p:cNvPr id="237" name="Google Shape;237;p25"/>
          <p:cNvSpPr txBox="1"/>
          <p:nvPr/>
        </p:nvSpPr>
        <p:spPr>
          <a:xfrm>
            <a:off x="205275" y="886875"/>
            <a:ext cx="17598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cd /var/ossec</a:t>
            </a:r>
            <a:endParaRPr i="1">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t/>
            </a:r>
            <a:endParaRPr i="1">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t/>
            </a:r>
            <a:endParaRPr i="1">
              <a:solidFill>
                <a:schemeClr val="lt1"/>
              </a:solidFill>
              <a:latin typeface="Oswald"/>
              <a:ea typeface="Oswald"/>
              <a:cs typeface="Oswald"/>
              <a:sym typeface="Oswald"/>
            </a:endParaRPr>
          </a:p>
        </p:txBody>
      </p:sp>
      <p:sp>
        <p:nvSpPr>
          <p:cNvPr id="238" name="Google Shape;238;p25"/>
          <p:cNvSpPr txBox="1"/>
          <p:nvPr/>
        </p:nvSpPr>
        <p:spPr>
          <a:xfrm>
            <a:off x="5195500" y="886875"/>
            <a:ext cx="27006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/var/ossec/bin/manage_agents</a:t>
            </a:r>
            <a:endParaRPr i="1">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Choix : I</a:t>
            </a:r>
            <a:endParaRPr i="1">
              <a:solidFill>
                <a:schemeClr val="lt1"/>
              </a:solidFill>
              <a:latin typeface="Oswald"/>
              <a:ea typeface="Oswald"/>
              <a:cs typeface="Oswald"/>
              <a:sym typeface="Oswald"/>
            </a:endParaRPr>
          </a:p>
        </p:txBody>
      </p:sp>
      <p:pic>
        <p:nvPicPr>
          <p:cNvPr id="239" name="Google Shape;239;p25"/>
          <p:cNvPicPr preferRelativeResize="0"/>
          <p:nvPr/>
        </p:nvPicPr>
        <p:blipFill rotWithShape="1">
          <a:blip r:embed="rId3">
            <a:alphaModFix/>
          </a:blip>
          <a:srcRect b="0" l="4826" r="5141" t="0"/>
          <a:stretch/>
        </p:blipFill>
        <p:spPr>
          <a:xfrm>
            <a:off x="283050" y="1377475"/>
            <a:ext cx="3879500" cy="2426300"/>
          </a:xfrm>
          <a:prstGeom prst="rect">
            <a:avLst/>
          </a:prstGeom>
          <a:noFill/>
          <a:ln>
            <a:noFill/>
          </a:ln>
        </p:spPr>
      </p:pic>
      <p:pic>
        <p:nvPicPr>
          <p:cNvPr id="240" name="Google Shape;240;p25"/>
          <p:cNvPicPr preferRelativeResize="0"/>
          <p:nvPr/>
        </p:nvPicPr>
        <p:blipFill rotWithShape="1">
          <a:blip r:embed="rId4">
            <a:alphaModFix/>
          </a:blip>
          <a:srcRect b="0" l="4826" r="5141" t="0"/>
          <a:stretch/>
        </p:blipFill>
        <p:spPr>
          <a:xfrm>
            <a:off x="5195500" y="1534875"/>
            <a:ext cx="3458025" cy="2162700"/>
          </a:xfrm>
          <a:prstGeom prst="rect">
            <a:avLst/>
          </a:prstGeom>
          <a:noFill/>
          <a:ln>
            <a:noFill/>
          </a:ln>
        </p:spPr>
      </p:pic>
      <p:sp>
        <p:nvSpPr>
          <p:cNvPr id="241" name="Google Shape;241;p25"/>
          <p:cNvSpPr txBox="1"/>
          <p:nvPr/>
        </p:nvSpPr>
        <p:spPr>
          <a:xfrm>
            <a:off x="5195500" y="3745450"/>
            <a:ext cx="3623400" cy="126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fr" sz="900">
                <a:solidFill>
                  <a:schemeClr val="lt1"/>
                </a:solidFill>
                <a:latin typeface="Oswald"/>
                <a:ea typeface="Oswald"/>
                <a:cs typeface="Oswald"/>
                <a:sym typeface="Oswald"/>
              </a:rPr>
              <a:t>sur la VMf</a:t>
            </a:r>
            <a:endParaRPr sz="900">
              <a:solidFill>
                <a:schemeClr val="lt1"/>
              </a:solidFill>
              <a:latin typeface="Oswald"/>
              <a:ea typeface="Oswald"/>
              <a:cs typeface="Oswald"/>
              <a:sym typeface="Oswald"/>
            </a:endParaRPr>
          </a:p>
          <a:p>
            <a:pPr indent="0" lvl="0" marL="0" rtl="0" algn="l">
              <a:lnSpc>
                <a:spcPct val="115000"/>
              </a:lnSpc>
              <a:spcBef>
                <a:spcPts val="1200"/>
              </a:spcBef>
              <a:spcAft>
                <a:spcPts val="0"/>
              </a:spcAft>
              <a:buNone/>
            </a:pPr>
            <a:r>
              <a:rPr lang="fr" sz="900">
                <a:solidFill>
                  <a:schemeClr val="lt1"/>
                </a:solidFill>
                <a:latin typeface="Oswald"/>
                <a:ea typeface="Oswald"/>
                <a:cs typeface="Oswald"/>
                <a:sym typeface="Oswald"/>
              </a:rPr>
              <a:t>Puis collage de la clé générée par le serveur.</a:t>
            </a:r>
            <a:endParaRPr b="1" sz="900">
              <a:solidFill>
                <a:schemeClr val="lt1"/>
              </a:solidFill>
              <a:latin typeface="Oswald"/>
              <a:ea typeface="Oswald"/>
              <a:cs typeface="Oswald"/>
              <a:sym typeface="Oswald"/>
            </a:endParaRPr>
          </a:p>
          <a:p>
            <a:pPr indent="0" lvl="0" marL="0" rtl="0" algn="l">
              <a:lnSpc>
                <a:spcPct val="115000"/>
              </a:lnSpc>
              <a:spcBef>
                <a:spcPts val="2400"/>
              </a:spcBef>
              <a:spcAft>
                <a:spcPts val="600"/>
              </a:spcAft>
              <a:buNone/>
            </a:pPr>
            <a:r>
              <a:rPr lang="fr" sz="900">
                <a:solidFill>
                  <a:schemeClr val="lt1"/>
                </a:solidFill>
                <a:latin typeface="Oswald"/>
                <a:ea typeface="Oswald"/>
                <a:cs typeface="Oswald"/>
                <a:sym typeface="Oswald"/>
              </a:rPr>
              <a:t>La clé d’authentification permet de sécuriser la communication entre l’agent et le serveur OSSEC afin d’éviter l’enregistrement d’agents non autorisés.</a:t>
            </a:r>
            <a:endParaRPr sz="9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6"/>
          <p:cNvSpPr txBox="1"/>
          <p:nvPr>
            <p:ph idx="4294967295" type="title"/>
          </p:nvPr>
        </p:nvSpPr>
        <p:spPr>
          <a:xfrm>
            <a:off x="205275" y="315975"/>
            <a:ext cx="8938800" cy="57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Job 03 – Installation de l’agent OSSEC sur VM Cliente</a:t>
            </a:r>
            <a:endParaRPr/>
          </a:p>
        </p:txBody>
      </p:sp>
      <p:sp>
        <p:nvSpPr>
          <p:cNvPr id="247" name="Google Shape;247;p26"/>
          <p:cNvSpPr txBox="1"/>
          <p:nvPr/>
        </p:nvSpPr>
        <p:spPr>
          <a:xfrm>
            <a:off x="205275" y="886875"/>
            <a:ext cx="31212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fr">
                <a:solidFill>
                  <a:schemeClr val="lt1"/>
                </a:solidFill>
                <a:latin typeface="Oswald"/>
                <a:ea typeface="Oswald"/>
                <a:cs typeface="Oswald"/>
                <a:sym typeface="Oswald"/>
              </a:rPr>
              <a:t>/var/ossec/bin/ossec-control start</a:t>
            </a:r>
            <a:endParaRPr i="1">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t/>
            </a:r>
            <a:endParaRPr i="1">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t/>
            </a:r>
            <a:endParaRPr i="1">
              <a:solidFill>
                <a:schemeClr val="lt1"/>
              </a:solidFill>
              <a:latin typeface="Oswald"/>
              <a:ea typeface="Oswald"/>
              <a:cs typeface="Oswald"/>
              <a:sym typeface="Oswald"/>
            </a:endParaRPr>
          </a:p>
        </p:txBody>
      </p:sp>
      <p:sp>
        <p:nvSpPr>
          <p:cNvPr id="248" name="Google Shape;248;p26"/>
          <p:cNvSpPr txBox="1"/>
          <p:nvPr/>
        </p:nvSpPr>
        <p:spPr>
          <a:xfrm>
            <a:off x="5195500" y="886875"/>
            <a:ext cx="3906300" cy="188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fr" sz="1200">
                <a:solidFill>
                  <a:schemeClr val="lt1"/>
                </a:solidFill>
                <a:latin typeface="Oswald"/>
                <a:ea typeface="Oswald"/>
                <a:cs typeface="Oswald"/>
                <a:sym typeface="Oswald"/>
              </a:rPr>
              <a:t>/var/ossec/bin/manage_agents</a:t>
            </a:r>
            <a:endParaRPr i="1" sz="1200">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t/>
            </a:r>
            <a:endParaRPr sz="1200">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rPr lang="fr" sz="1200">
                <a:solidFill>
                  <a:schemeClr val="lt1"/>
                </a:solidFill>
                <a:latin typeface="Oswald"/>
                <a:ea typeface="Oswald"/>
                <a:cs typeface="Oswald"/>
                <a:sym typeface="Oswald"/>
              </a:rPr>
              <a:t>La commande manage_agents permet de vérifier que l’agent client est correctement enregistré sur le serveur OSSEC.</a:t>
            </a:r>
            <a:endParaRPr sz="1200">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t/>
            </a:r>
            <a:endParaRPr sz="1200">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rPr lang="fr" sz="1200">
                <a:solidFill>
                  <a:schemeClr val="lt1"/>
                </a:solidFill>
                <a:latin typeface="Oswald"/>
                <a:ea typeface="Oswald"/>
                <a:cs typeface="Oswald"/>
                <a:sym typeface="Oswald"/>
              </a:rPr>
              <a:t>L’agent “client_agent” avec l’adresse IP 192.168.30.101 apparaît bien dans la liste des agents autorisés.</a:t>
            </a:r>
            <a:endParaRPr sz="1200">
              <a:solidFill>
                <a:schemeClr val="lt1"/>
              </a:solidFill>
              <a:latin typeface="Oswald"/>
              <a:ea typeface="Oswald"/>
              <a:cs typeface="Oswald"/>
              <a:sym typeface="Oswald"/>
            </a:endParaRPr>
          </a:p>
          <a:p>
            <a:pPr indent="0" lvl="0" marL="0" rtl="0" algn="l">
              <a:lnSpc>
                <a:spcPct val="115000"/>
              </a:lnSpc>
              <a:spcBef>
                <a:spcPts val="0"/>
              </a:spcBef>
              <a:spcAft>
                <a:spcPts val="0"/>
              </a:spcAft>
              <a:buNone/>
            </a:pPr>
            <a:r>
              <a:t/>
            </a:r>
            <a:endParaRPr i="1">
              <a:solidFill>
                <a:schemeClr val="lt1"/>
              </a:solidFill>
              <a:latin typeface="Oswald"/>
              <a:ea typeface="Oswald"/>
              <a:cs typeface="Oswald"/>
              <a:sym typeface="Oswald"/>
            </a:endParaRPr>
          </a:p>
        </p:txBody>
      </p:sp>
      <p:pic>
        <p:nvPicPr>
          <p:cNvPr id="249" name="Google Shape;249;p26"/>
          <p:cNvPicPr preferRelativeResize="0"/>
          <p:nvPr/>
        </p:nvPicPr>
        <p:blipFill rotWithShape="1">
          <a:blip r:embed="rId3">
            <a:alphaModFix/>
          </a:blip>
          <a:srcRect b="3176" l="4826" r="4790" t="0"/>
          <a:stretch/>
        </p:blipFill>
        <p:spPr>
          <a:xfrm>
            <a:off x="253900" y="1377525"/>
            <a:ext cx="4360400" cy="2630550"/>
          </a:xfrm>
          <a:prstGeom prst="rect">
            <a:avLst/>
          </a:prstGeom>
          <a:noFill/>
          <a:ln>
            <a:noFill/>
          </a:ln>
        </p:spPr>
      </p:pic>
      <p:pic>
        <p:nvPicPr>
          <p:cNvPr id="250" name="Google Shape;250;p26"/>
          <p:cNvPicPr preferRelativeResize="0"/>
          <p:nvPr/>
        </p:nvPicPr>
        <p:blipFill rotWithShape="1">
          <a:blip r:embed="rId4">
            <a:alphaModFix/>
          </a:blip>
          <a:srcRect b="0" l="4150" r="0" t="0"/>
          <a:stretch/>
        </p:blipFill>
        <p:spPr>
          <a:xfrm>
            <a:off x="5261275" y="2571750"/>
            <a:ext cx="3539150" cy="1968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7"/>
          <p:cNvSpPr txBox="1"/>
          <p:nvPr>
            <p:ph idx="4294967295" type="title"/>
          </p:nvPr>
        </p:nvSpPr>
        <p:spPr>
          <a:xfrm>
            <a:off x="205275" y="315975"/>
            <a:ext cx="8938800" cy="57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Job 04 – Simulations et tests de sécurité</a:t>
            </a:r>
            <a:endParaRPr/>
          </a:p>
        </p:txBody>
      </p:sp>
      <p:sp>
        <p:nvSpPr>
          <p:cNvPr id="256" name="Google Shape;256;p27"/>
          <p:cNvSpPr txBox="1"/>
          <p:nvPr/>
        </p:nvSpPr>
        <p:spPr>
          <a:xfrm>
            <a:off x="136125" y="826450"/>
            <a:ext cx="4845600" cy="93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1100">
                <a:solidFill>
                  <a:schemeClr val="lt1"/>
                </a:solidFill>
              </a:rPr>
              <a:t>Avant de commencer les simulations, une vérification importante a été réalisée sur l’architecture OSSEC. Lors de l’installation, le serveur OSSEC a été installé en mode hybride, ce qui signifie qu’il joue à la fois le rôle de serveur de supervision et d’agent local.</a:t>
            </a:r>
            <a:endParaRPr sz="1100">
              <a:solidFill>
                <a:schemeClr val="lt1"/>
              </a:solidFill>
            </a:endParaRPr>
          </a:p>
        </p:txBody>
      </p:sp>
      <p:pic>
        <p:nvPicPr>
          <p:cNvPr id="257" name="Google Shape;257;p27"/>
          <p:cNvPicPr preferRelativeResize="0"/>
          <p:nvPr/>
        </p:nvPicPr>
        <p:blipFill>
          <a:blip r:embed="rId3">
            <a:alphaModFix/>
          </a:blip>
          <a:stretch>
            <a:fillRect/>
          </a:stretch>
        </p:blipFill>
        <p:spPr>
          <a:xfrm>
            <a:off x="205275" y="1702138"/>
            <a:ext cx="4423975" cy="1505875"/>
          </a:xfrm>
          <a:prstGeom prst="rect">
            <a:avLst/>
          </a:prstGeom>
          <a:noFill/>
          <a:ln>
            <a:noFill/>
          </a:ln>
        </p:spPr>
      </p:pic>
      <p:sp>
        <p:nvSpPr>
          <p:cNvPr id="258" name="Google Shape;258;p27"/>
          <p:cNvSpPr txBox="1"/>
          <p:nvPr/>
        </p:nvSpPr>
        <p:spPr>
          <a:xfrm>
            <a:off x="4981575" y="886875"/>
            <a:ext cx="4032900" cy="210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1000">
                <a:solidFill>
                  <a:schemeClr val="lt1"/>
                </a:solidFill>
              </a:rPr>
              <a:t>L’entrée locale du serveur peut apparaître sous la forme :</a:t>
            </a:r>
            <a:endParaRPr sz="1000">
              <a:solidFill>
                <a:schemeClr val="lt1"/>
              </a:solidFill>
            </a:endParaRPr>
          </a:p>
          <a:p>
            <a:pPr indent="0" lvl="0" marL="0" rtl="0" algn="l">
              <a:lnSpc>
                <a:spcPct val="115000"/>
              </a:lnSpc>
              <a:spcBef>
                <a:spcPts val="0"/>
              </a:spcBef>
              <a:spcAft>
                <a:spcPts val="0"/>
              </a:spcAft>
              <a:buNone/>
            </a:pPr>
            <a:r>
              <a:rPr i="1" lang="fr" sz="1000">
                <a:solidFill>
                  <a:srgbClr val="188038"/>
                </a:solidFill>
              </a:rPr>
              <a:t>ID: 000, Name: ossec-server (server), IP: 127.0.0.1, Active/Local</a:t>
            </a:r>
            <a:endParaRPr i="1" sz="1000">
              <a:solidFill>
                <a:srgbClr val="188038"/>
              </a:solidFill>
            </a:endParaRPr>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fr" sz="1000">
                <a:solidFill>
                  <a:schemeClr val="lt1"/>
                </a:solidFill>
              </a:rPr>
              <a:t>Cette entrée indique que le serveur OSSEC surveille aussi sa propre machine. </a:t>
            </a:r>
            <a:endParaRPr sz="1000">
              <a:solidFill>
                <a:schemeClr val="lt1"/>
              </a:solidFill>
            </a:endParaRPr>
          </a:p>
          <a:p>
            <a:pPr indent="0" lvl="0" marL="0" rtl="0" algn="l">
              <a:lnSpc>
                <a:spcPct val="115000"/>
              </a:lnSpc>
              <a:spcBef>
                <a:spcPts val="0"/>
              </a:spcBef>
              <a:spcAft>
                <a:spcPts val="0"/>
              </a:spcAft>
              <a:buNone/>
            </a:pPr>
            <a:r>
              <a:rPr lang="fr" sz="1000">
                <a:solidFill>
                  <a:schemeClr val="lt1"/>
                </a:solidFill>
              </a:rPr>
              <a:t>Il n’est donc pas nécessaire d’ajouter manuellement le serveur comme un agent distant avec son adresse IP réseau.</a:t>
            </a:r>
            <a:endParaRPr sz="1000">
              <a:solidFill>
                <a:schemeClr val="lt1"/>
              </a:solidFill>
            </a:endParaRPr>
          </a:p>
          <a:p>
            <a:pPr indent="0" lvl="0" marL="0" rtl="0" algn="l">
              <a:lnSpc>
                <a:spcPct val="115000"/>
              </a:lnSpc>
              <a:spcBef>
                <a:spcPts val="0"/>
              </a:spcBef>
              <a:spcAft>
                <a:spcPts val="0"/>
              </a:spcAft>
              <a:buNone/>
            </a:pPr>
            <a:r>
              <a:rPr lang="fr" sz="1000">
                <a:solidFill>
                  <a:schemeClr val="lt1"/>
                </a:solidFill>
              </a:rPr>
              <a:t> L’agent réellement utilisé pour le Job 04 est la VM cliente, identifiée par exemple comme :</a:t>
            </a:r>
            <a:endParaRPr sz="1000">
              <a:solidFill>
                <a:schemeClr val="lt1"/>
              </a:solidFill>
            </a:endParaRPr>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i="1" lang="fr" sz="1000">
                <a:solidFill>
                  <a:srgbClr val="188038"/>
                </a:solidFill>
              </a:rPr>
              <a:t>ID: 002, Name: client_agent, IP: 192.168.30.101, Active</a:t>
            </a:r>
            <a:endParaRPr i="1" sz="1000">
              <a:solidFill>
                <a:srgbClr val="188038"/>
              </a:solidFill>
            </a:endParaRPr>
          </a:p>
        </p:txBody>
      </p:sp>
      <p:pic>
        <p:nvPicPr>
          <p:cNvPr id="259" name="Google Shape;259;p27"/>
          <p:cNvPicPr preferRelativeResize="0"/>
          <p:nvPr/>
        </p:nvPicPr>
        <p:blipFill>
          <a:blip r:embed="rId4">
            <a:alphaModFix/>
          </a:blip>
          <a:stretch>
            <a:fillRect/>
          </a:stretch>
        </p:blipFill>
        <p:spPr>
          <a:xfrm>
            <a:off x="4981576" y="3118875"/>
            <a:ext cx="4032900" cy="1838531"/>
          </a:xfrm>
          <a:prstGeom prst="rect">
            <a:avLst/>
          </a:prstGeom>
          <a:noFill/>
          <a:ln>
            <a:noFill/>
          </a:ln>
        </p:spPr>
      </p:pic>
    </p:spTree>
  </p:cSld>
  <p:clrMapOvr>
    <a:masterClrMapping/>
  </p:clrMapOvr>
  <mc:AlternateContent>
    <mc:Choice Requires="p14">
      <p:transition spd="med">
        <p14:gallery dir="l"/>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8"/>
          <p:cNvSpPr txBox="1"/>
          <p:nvPr>
            <p:ph idx="4294967295" type="title"/>
          </p:nvPr>
        </p:nvSpPr>
        <p:spPr>
          <a:xfrm>
            <a:off x="205275" y="315975"/>
            <a:ext cx="8938800" cy="57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Job 04 – Simulations et tests de sécurité</a:t>
            </a:r>
            <a:endParaRPr/>
          </a:p>
        </p:txBody>
      </p:sp>
      <p:sp>
        <p:nvSpPr>
          <p:cNvPr id="265" name="Google Shape;265;p28"/>
          <p:cNvSpPr txBox="1"/>
          <p:nvPr/>
        </p:nvSpPr>
        <p:spPr>
          <a:xfrm>
            <a:off x="205275" y="813775"/>
            <a:ext cx="4048800" cy="413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800">
                <a:solidFill>
                  <a:schemeClr val="lt1"/>
                </a:solidFill>
              </a:rPr>
              <a:t>Le module utilisé pour détecter les modifications de fichiers est Syscheck. Il correspond au mécanisme FIM, c’est-à-dire File Integrity Monitoring. Il permet de surveiller les fichiers sensibles du système et de détecter les créations, modifications ou suppressions.</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Le fichier de configuration principal se trouve ici :</a:t>
            </a:r>
            <a:endParaRPr sz="800">
              <a:solidFill>
                <a:schemeClr val="lt1"/>
              </a:solidFill>
            </a:endParaRPr>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fr" sz="800">
                <a:solidFill>
                  <a:srgbClr val="188038"/>
                </a:solidFill>
              </a:rPr>
              <a:t>sudo nano /var/ossec/etc/ossec.conf</a:t>
            </a:r>
            <a:endParaRPr sz="800">
              <a:solidFill>
                <a:srgbClr val="188038"/>
              </a:solidFill>
            </a:endParaRPr>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fr" sz="800">
                <a:solidFill>
                  <a:schemeClr val="lt1"/>
                </a:solidFill>
              </a:rPr>
              <a:t>Le bloc suivant doit être ajouté dans la balise principale &lt;ossec_config&gt; :</a:t>
            </a:r>
            <a:endParaRPr sz="800">
              <a:solidFill>
                <a:schemeClr val="lt1"/>
              </a:solidFill>
            </a:endParaRPr>
          </a:p>
          <a:p>
            <a:pPr indent="0" lvl="0" marL="0" rtl="0" algn="l">
              <a:lnSpc>
                <a:spcPct val="115000"/>
              </a:lnSpc>
              <a:spcBef>
                <a:spcPts val="0"/>
              </a:spcBef>
              <a:spcAft>
                <a:spcPts val="0"/>
              </a:spcAft>
              <a:buNone/>
            </a:pPr>
            <a:r>
              <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&lt;syscheck&gt;</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 &lt;!-- Active l’intégrité des fichiers avec scan fréquent pour le labo --&gt;</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 &lt;frequency&gt;120&lt;/frequency&gt;</a:t>
            </a:r>
            <a:endParaRPr sz="800">
              <a:solidFill>
                <a:srgbClr val="188038"/>
              </a:solidFill>
            </a:endParaRPr>
          </a:p>
          <a:p>
            <a:pPr indent="0" lvl="0" marL="0" rtl="0" algn="l">
              <a:lnSpc>
                <a:spcPct val="115000"/>
              </a:lnSpc>
              <a:spcBef>
                <a:spcPts val="0"/>
              </a:spcBef>
              <a:spcAft>
                <a:spcPts val="0"/>
              </a:spcAft>
              <a:buNone/>
            </a:pPr>
            <a:r>
              <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 &lt;!-- Répertoires système sensibles --&gt;</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 &lt;directories check_all="yes" realtime="yes"&gt;/etc&lt;/directories&gt;</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 &lt;directories check_all="yes" realtime="yes"&gt;/bin&lt;/directories&gt;</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 &lt;directories check_all="yes" realtime="yes"&gt;/usr/bin&lt;/directories&gt;</a:t>
            </a:r>
            <a:endParaRPr sz="800">
              <a:solidFill>
                <a:srgbClr val="188038"/>
              </a:solidFill>
            </a:endParaRPr>
          </a:p>
          <a:p>
            <a:pPr indent="0" lvl="0" marL="0" rtl="0" algn="l">
              <a:lnSpc>
                <a:spcPct val="115000"/>
              </a:lnSpc>
              <a:spcBef>
                <a:spcPts val="0"/>
              </a:spcBef>
              <a:spcAft>
                <a:spcPts val="0"/>
              </a:spcAft>
              <a:buNone/>
            </a:pPr>
            <a:r>
              <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 &lt;!-- Détection des nouveaux fichiers --&gt;</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 &lt;alert_new_files&gt;yes&lt;/alert_new_files&gt;</a:t>
            </a:r>
            <a:endParaRPr sz="800">
              <a:solidFill>
                <a:srgbClr val="188038"/>
              </a:solidFill>
            </a:endParaRPr>
          </a:p>
          <a:p>
            <a:pPr indent="0" lvl="0" marL="0" rtl="0" algn="l">
              <a:lnSpc>
                <a:spcPct val="115000"/>
              </a:lnSpc>
              <a:spcBef>
                <a:spcPts val="0"/>
              </a:spcBef>
              <a:spcAft>
                <a:spcPts val="0"/>
              </a:spcAft>
              <a:buNone/>
            </a:pPr>
            <a:r>
              <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 &lt;!-- Exclusion des fichiers bruyants --&gt;</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 &lt;ignore type="sregex"&gt;\.(log|tmp|swp)$&lt;/ignore&gt;</a:t>
            </a:r>
            <a:endParaRPr sz="800">
              <a:solidFill>
                <a:srgbClr val="188038"/>
              </a:solidFill>
            </a:endParaRPr>
          </a:p>
          <a:p>
            <a:pPr indent="0" lvl="0" marL="0" rtl="0" algn="l">
              <a:lnSpc>
                <a:spcPct val="115000"/>
              </a:lnSpc>
              <a:spcBef>
                <a:spcPts val="0"/>
              </a:spcBef>
              <a:spcAft>
                <a:spcPts val="0"/>
              </a:spcAft>
              <a:buNone/>
            </a:pPr>
            <a:r>
              <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 &lt;!-- Scan au démarrage --&gt;</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 &lt;scan_on_start&gt;yes&lt;/scan_on_start&gt;</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&lt;/syscheck&gt;</a:t>
            </a:r>
            <a:endParaRPr sz="800">
              <a:solidFill>
                <a:srgbClr val="188038"/>
              </a:solidFill>
            </a:endParaRPr>
          </a:p>
        </p:txBody>
      </p:sp>
      <p:sp>
        <p:nvSpPr>
          <p:cNvPr id="266" name="Google Shape;266;p28"/>
          <p:cNvSpPr txBox="1"/>
          <p:nvPr/>
        </p:nvSpPr>
        <p:spPr>
          <a:xfrm>
            <a:off x="4094500" y="813775"/>
            <a:ext cx="5086500" cy="384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800">
                <a:solidFill>
                  <a:schemeClr val="lt1"/>
                </a:solidFill>
              </a:rPr>
              <a:t>Cette configuration surveille les répertoires critiques /etc, /bin et /usr/bin. </a:t>
            </a:r>
            <a:endParaRPr sz="8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L’option check_all="yes" permet de contrôler plusieurs attributs du fichier, comme les permissions, le propriétaire et les empreintes d’intégrité. </a:t>
            </a:r>
            <a:endParaRPr sz="8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L’option realtime="yes" permet une détection plus rapide lorsque le système le supporte.</a:t>
            </a:r>
            <a:endParaRPr sz="8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La fréquence 120 signifie que le scan est relancé toutes les deux minutes.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Ce choix est volontairement court pour un laboratoire, afin d’obtenir rapidement des alertes pendant la démonstration. En production, une valeur plus élevée serait préférable pour réduire la charge système.</a:t>
            </a:r>
            <a:endParaRPr sz="800">
              <a:solidFill>
                <a:schemeClr val="lt1"/>
              </a:solidFill>
            </a:endParaRPr>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fr" sz="800">
                <a:solidFill>
                  <a:schemeClr val="lt1"/>
                </a:solidFill>
              </a:rPr>
              <a:t>Après modification, il faut redémarrer OSSEC :</a:t>
            </a:r>
            <a:endParaRPr sz="800">
              <a:solidFill>
                <a:schemeClr val="lt1"/>
              </a:solidFill>
            </a:endParaRPr>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fr" sz="800">
                <a:solidFill>
                  <a:srgbClr val="188038"/>
                </a:solidFill>
              </a:rPr>
              <a:t>sudo /var/ossec/bin/ossec-control restart</a:t>
            </a:r>
            <a:endParaRPr sz="800">
              <a:solidFill>
                <a:srgbClr val="188038"/>
              </a:solidFill>
            </a:endParaRPr>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fr" sz="800">
                <a:solidFill>
                  <a:schemeClr val="lt1"/>
                </a:solidFill>
              </a:rPr>
              <a:t>Puis vérifier l’état des services :</a:t>
            </a:r>
            <a:endParaRPr sz="800">
              <a:solidFill>
                <a:schemeClr val="lt1"/>
              </a:solidFill>
            </a:endParaRPr>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fr" sz="800">
                <a:solidFill>
                  <a:srgbClr val="188038"/>
                </a:solidFill>
              </a:rPr>
              <a:t>sudo /var/ossec/bin/ossec-control status</a:t>
            </a:r>
            <a:endParaRPr sz="800">
              <a:solidFill>
                <a:srgbClr val="188038"/>
              </a:solidFill>
            </a:endParaRPr>
          </a:p>
          <a:p>
            <a:pPr indent="0" lvl="0" marL="0" rtl="0" algn="l">
              <a:lnSpc>
                <a:spcPct val="115000"/>
              </a:lnSpc>
              <a:spcBef>
                <a:spcPts val="0"/>
              </a:spcBef>
              <a:spcAft>
                <a:spcPts val="0"/>
              </a:spcAft>
              <a:buNone/>
            </a:pPr>
            <a:r>
              <a:t/>
            </a:r>
            <a:endParaRPr sz="800">
              <a:solidFill>
                <a:srgbClr val="188038"/>
              </a:solidFill>
            </a:endParaRPr>
          </a:p>
          <a:p>
            <a:pPr indent="0" lvl="0" marL="0" rtl="0" algn="l">
              <a:lnSpc>
                <a:spcPct val="115000"/>
              </a:lnSpc>
              <a:spcBef>
                <a:spcPts val="0"/>
              </a:spcBef>
              <a:spcAft>
                <a:spcPts val="0"/>
              </a:spcAft>
              <a:buNone/>
            </a:pPr>
            <a:r>
              <a:rPr lang="fr" sz="800">
                <a:solidFill>
                  <a:schemeClr val="lt1"/>
                </a:solidFill>
              </a:rPr>
              <a:t>Le service important ici est :</a:t>
            </a:r>
            <a:endParaRPr sz="800">
              <a:solidFill>
                <a:schemeClr val="lt1"/>
              </a:solidFill>
            </a:endParaRPr>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fr" sz="800">
                <a:solidFill>
                  <a:srgbClr val="188038"/>
                </a:solidFill>
              </a:rPr>
              <a:t>ossec-syscheckd is running…</a:t>
            </a:r>
            <a:endParaRPr sz="800">
              <a:solidFill>
                <a:srgbClr val="188038"/>
              </a:solidFill>
            </a:endParaRPr>
          </a:p>
          <a:p>
            <a:pPr indent="0" lvl="0" marL="0" rtl="0" algn="l">
              <a:lnSpc>
                <a:spcPct val="115000"/>
              </a:lnSpc>
              <a:spcBef>
                <a:spcPts val="0"/>
              </a:spcBef>
              <a:spcAft>
                <a:spcPts val="0"/>
              </a:spcAft>
              <a:buNone/>
            </a:pPr>
            <a:r>
              <a:t/>
            </a:r>
            <a:endParaRPr sz="800">
              <a:solidFill>
                <a:srgbClr val="188038"/>
              </a:solidFill>
            </a:endParaRPr>
          </a:p>
          <a:p>
            <a:pPr indent="0" lvl="0" marL="0" rtl="0" algn="l">
              <a:lnSpc>
                <a:spcPct val="115000"/>
              </a:lnSpc>
              <a:spcBef>
                <a:spcPts val="0"/>
              </a:spcBef>
              <a:spcAft>
                <a:spcPts val="0"/>
              </a:spcAft>
              <a:buNone/>
            </a:pPr>
            <a:r>
              <a:rPr lang="fr" sz="800">
                <a:solidFill>
                  <a:schemeClr val="lt1"/>
                </a:solidFill>
              </a:rPr>
              <a:t>Il faut également vérifier que la configuration ne génère pas d’erreur :</a:t>
            </a:r>
            <a:endParaRPr sz="800">
              <a:solidFill>
                <a:schemeClr val="lt1"/>
              </a:solidFill>
            </a:endParaRPr>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fr" sz="800">
                <a:solidFill>
                  <a:srgbClr val="188038"/>
                </a:solidFill>
              </a:rPr>
              <a:t>sudo tail -n 80 /var/ossec/logs/ossec.log</a:t>
            </a:r>
            <a:endParaRPr sz="800">
              <a:solidFill>
                <a:srgbClr val="188038"/>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9"/>
          <p:cNvSpPr txBox="1"/>
          <p:nvPr>
            <p:ph idx="4294967295" type="title"/>
          </p:nvPr>
        </p:nvSpPr>
        <p:spPr>
          <a:xfrm>
            <a:off x="205275" y="315975"/>
            <a:ext cx="8938800" cy="57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Job 04 – Simulations et tests de sécurité</a:t>
            </a:r>
            <a:endParaRPr/>
          </a:p>
        </p:txBody>
      </p:sp>
      <p:sp>
        <p:nvSpPr>
          <p:cNvPr id="272" name="Google Shape;272;p29"/>
          <p:cNvSpPr txBox="1"/>
          <p:nvPr/>
        </p:nvSpPr>
        <p:spPr>
          <a:xfrm>
            <a:off x="205275" y="813775"/>
            <a:ext cx="3821100" cy="278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700">
                <a:solidFill>
                  <a:schemeClr val="lt1"/>
                </a:solidFill>
              </a:rPr>
              <a:t>Cette première simulation permet de vérifier que la VM cliente est bien surveillée par OSSEC et que les alertes sont remontées vers le serveur.</a:t>
            </a:r>
            <a:endParaRPr sz="700">
              <a:solidFill>
                <a:schemeClr val="lt1"/>
              </a:solidFill>
            </a:endParaRPr>
          </a:p>
          <a:p>
            <a:pPr indent="0" lvl="0" marL="0" rtl="0" algn="l">
              <a:lnSpc>
                <a:spcPct val="115000"/>
              </a:lnSpc>
              <a:spcBef>
                <a:spcPts val="0"/>
              </a:spcBef>
              <a:spcAft>
                <a:spcPts val="0"/>
              </a:spcAft>
              <a:buNone/>
            </a:pPr>
            <a:r>
              <a:t/>
            </a:r>
            <a:endParaRPr sz="700">
              <a:solidFill>
                <a:schemeClr val="lt1"/>
              </a:solidFill>
            </a:endParaRPr>
          </a:p>
          <a:p>
            <a:pPr indent="0" lvl="0" marL="0" rtl="0" algn="l">
              <a:lnSpc>
                <a:spcPct val="115000"/>
              </a:lnSpc>
              <a:spcBef>
                <a:spcPts val="0"/>
              </a:spcBef>
              <a:spcAft>
                <a:spcPts val="0"/>
              </a:spcAft>
              <a:buNone/>
            </a:pPr>
            <a:r>
              <a:rPr lang="fr" sz="700">
                <a:solidFill>
                  <a:schemeClr val="lt1"/>
                </a:solidFill>
              </a:rPr>
              <a:t>Sur la VM cliente, créer un fichier de test dans /etc :</a:t>
            </a:r>
            <a:endParaRPr sz="700">
              <a:solidFill>
                <a:schemeClr val="lt1"/>
              </a:solidFill>
            </a:endParaRPr>
          </a:p>
          <a:p>
            <a:pPr indent="0" lvl="0" marL="0" rtl="0" algn="l">
              <a:lnSpc>
                <a:spcPct val="115000"/>
              </a:lnSpc>
              <a:spcBef>
                <a:spcPts val="0"/>
              </a:spcBef>
              <a:spcAft>
                <a:spcPts val="0"/>
              </a:spcAft>
              <a:buNone/>
            </a:pPr>
            <a:r>
              <a:t/>
            </a:r>
            <a:endParaRPr sz="700">
              <a:solidFill>
                <a:schemeClr val="lt1"/>
              </a:solidFill>
            </a:endParaRPr>
          </a:p>
          <a:p>
            <a:pPr indent="0" lvl="0" marL="0" rtl="0" algn="l">
              <a:lnSpc>
                <a:spcPct val="115000"/>
              </a:lnSpc>
              <a:spcBef>
                <a:spcPts val="0"/>
              </a:spcBef>
              <a:spcAft>
                <a:spcPts val="0"/>
              </a:spcAft>
              <a:buNone/>
            </a:pPr>
            <a:r>
              <a:rPr lang="fr" sz="700">
                <a:solidFill>
                  <a:srgbClr val="188038"/>
                </a:solidFill>
              </a:rPr>
              <a:t>su -</a:t>
            </a:r>
            <a:endParaRPr sz="700">
              <a:solidFill>
                <a:srgbClr val="188038"/>
              </a:solidFill>
            </a:endParaRPr>
          </a:p>
          <a:p>
            <a:pPr indent="0" lvl="0" marL="0" rtl="0" algn="l">
              <a:lnSpc>
                <a:spcPct val="115000"/>
              </a:lnSpc>
              <a:spcBef>
                <a:spcPts val="0"/>
              </a:spcBef>
              <a:spcAft>
                <a:spcPts val="0"/>
              </a:spcAft>
              <a:buNone/>
            </a:pPr>
            <a:r>
              <a:t/>
            </a:r>
            <a:endParaRPr sz="700">
              <a:solidFill>
                <a:srgbClr val="188038"/>
              </a:solidFill>
            </a:endParaRPr>
          </a:p>
          <a:p>
            <a:pPr indent="0" lvl="0" marL="0" rtl="0" algn="l">
              <a:lnSpc>
                <a:spcPct val="115000"/>
              </a:lnSpc>
              <a:spcBef>
                <a:spcPts val="0"/>
              </a:spcBef>
              <a:spcAft>
                <a:spcPts val="0"/>
              </a:spcAft>
              <a:buNone/>
            </a:pPr>
            <a:r>
              <a:rPr lang="fr" sz="700">
                <a:solidFill>
                  <a:srgbClr val="188038"/>
                </a:solidFill>
              </a:rPr>
              <a:t>echo "test OSSEC client" &gt; /etc/test_ossec_client.conf</a:t>
            </a:r>
            <a:endParaRPr sz="700">
              <a:solidFill>
                <a:srgbClr val="188038"/>
              </a:solidFill>
            </a:endParaRPr>
          </a:p>
          <a:p>
            <a:pPr indent="0" lvl="0" marL="0" rtl="0" algn="l">
              <a:lnSpc>
                <a:spcPct val="115000"/>
              </a:lnSpc>
              <a:spcBef>
                <a:spcPts val="0"/>
              </a:spcBef>
              <a:spcAft>
                <a:spcPts val="0"/>
              </a:spcAft>
              <a:buNone/>
            </a:pPr>
            <a:r>
              <a:t/>
            </a:r>
            <a:endParaRPr sz="700">
              <a:solidFill>
                <a:schemeClr val="lt1"/>
              </a:solidFill>
            </a:endParaRPr>
          </a:p>
          <a:p>
            <a:pPr indent="0" lvl="0" marL="0" rtl="0" algn="l">
              <a:lnSpc>
                <a:spcPct val="115000"/>
              </a:lnSpc>
              <a:spcBef>
                <a:spcPts val="0"/>
              </a:spcBef>
              <a:spcAft>
                <a:spcPts val="0"/>
              </a:spcAft>
              <a:buNone/>
            </a:pPr>
            <a:r>
              <a:rPr lang="fr" sz="700">
                <a:solidFill>
                  <a:schemeClr val="lt1"/>
                </a:solidFill>
              </a:rPr>
              <a:t>Modifier ensuite ce fichier :</a:t>
            </a:r>
            <a:endParaRPr sz="700">
              <a:solidFill>
                <a:schemeClr val="lt1"/>
              </a:solidFill>
            </a:endParaRPr>
          </a:p>
          <a:p>
            <a:pPr indent="0" lvl="0" marL="0" rtl="0" algn="l">
              <a:lnSpc>
                <a:spcPct val="115000"/>
              </a:lnSpc>
              <a:spcBef>
                <a:spcPts val="0"/>
              </a:spcBef>
              <a:spcAft>
                <a:spcPts val="0"/>
              </a:spcAft>
              <a:buNone/>
            </a:pPr>
            <a:r>
              <a:t/>
            </a:r>
            <a:endParaRPr sz="700">
              <a:solidFill>
                <a:schemeClr val="lt1"/>
              </a:solidFill>
            </a:endParaRPr>
          </a:p>
          <a:p>
            <a:pPr indent="0" lvl="0" marL="0" rtl="0" algn="l">
              <a:lnSpc>
                <a:spcPct val="115000"/>
              </a:lnSpc>
              <a:spcBef>
                <a:spcPts val="0"/>
              </a:spcBef>
              <a:spcAft>
                <a:spcPts val="0"/>
              </a:spcAft>
              <a:buNone/>
            </a:pPr>
            <a:r>
              <a:rPr lang="fr" sz="700">
                <a:solidFill>
                  <a:srgbClr val="188038"/>
                </a:solidFill>
              </a:rPr>
              <a:t>echo "modification suspecte" &gt;&gt; /etc/test_ossec_client.conf</a:t>
            </a:r>
            <a:endParaRPr sz="700">
              <a:solidFill>
                <a:srgbClr val="188038"/>
              </a:solidFill>
            </a:endParaRPr>
          </a:p>
          <a:p>
            <a:pPr indent="0" lvl="0" marL="0" rtl="0" algn="l">
              <a:lnSpc>
                <a:spcPct val="115000"/>
              </a:lnSpc>
              <a:spcBef>
                <a:spcPts val="0"/>
              </a:spcBef>
              <a:spcAft>
                <a:spcPts val="0"/>
              </a:spcAft>
              <a:buNone/>
            </a:pPr>
            <a:r>
              <a:t/>
            </a:r>
            <a:endParaRPr sz="700">
              <a:solidFill>
                <a:srgbClr val="188038"/>
              </a:solidFill>
            </a:endParaRPr>
          </a:p>
          <a:p>
            <a:pPr indent="0" lvl="0" marL="0" rtl="0" algn="l">
              <a:lnSpc>
                <a:spcPct val="115000"/>
              </a:lnSpc>
              <a:spcBef>
                <a:spcPts val="0"/>
              </a:spcBef>
              <a:spcAft>
                <a:spcPts val="0"/>
              </a:spcAft>
              <a:buNone/>
            </a:pPr>
            <a:r>
              <a:rPr lang="fr" sz="700">
                <a:solidFill>
                  <a:schemeClr val="lt1"/>
                </a:solidFill>
              </a:rPr>
              <a:t>Sur le serveur OSSEC, vérifier les alertes :</a:t>
            </a:r>
            <a:endParaRPr sz="700">
              <a:solidFill>
                <a:schemeClr val="lt1"/>
              </a:solidFill>
            </a:endParaRPr>
          </a:p>
          <a:p>
            <a:pPr indent="0" lvl="0" marL="0" rtl="0" algn="l">
              <a:lnSpc>
                <a:spcPct val="115000"/>
              </a:lnSpc>
              <a:spcBef>
                <a:spcPts val="0"/>
              </a:spcBef>
              <a:spcAft>
                <a:spcPts val="0"/>
              </a:spcAft>
              <a:buNone/>
            </a:pPr>
            <a:r>
              <a:t/>
            </a:r>
            <a:endParaRPr sz="700">
              <a:solidFill>
                <a:srgbClr val="188038"/>
              </a:solidFill>
            </a:endParaRPr>
          </a:p>
          <a:p>
            <a:pPr indent="0" lvl="0" marL="0" rtl="0" algn="l">
              <a:lnSpc>
                <a:spcPct val="115000"/>
              </a:lnSpc>
              <a:spcBef>
                <a:spcPts val="0"/>
              </a:spcBef>
              <a:spcAft>
                <a:spcPts val="0"/>
              </a:spcAft>
              <a:buNone/>
            </a:pPr>
            <a:r>
              <a:rPr lang="fr" sz="700">
                <a:solidFill>
                  <a:srgbClr val="188038"/>
                </a:solidFill>
              </a:rPr>
              <a:t>grep -i "test_ossec_client" /var/ossec/logs/alerts/alerts.log</a:t>
            </a:r>
            <a:endParaRPr sz="700">
              <a:solidFill>
                <a:srgbClr val="188038"/>
              </a:solidFill>
            </a:endParaRPr>
          </a:p>
          <a:p>
            <a:pPr indent="0" lvl="0" marL="0" rtl="0" algn="l">
              <a:lnSpc>
                <a:spcPct val="115000"/>
              </a:lnSpc>
              <a:spcBef>
                <a:spcPts val="0"/>
              </a:spcBef>
              <a:spcAft>
                <a:spcPts val="0"/>
              </a:spcAft>
              <a:buNone/>
            </a:pPr>
            <a:r>
              <a:t/>
            </a:r>
            <a:endParaRPr sz="700">
              <a:solidFill>
                <a:schemeClr val="lt1"/>
              </a:solidFill>
            </a:endParaRPr>
          </a:p>
          <a:p>
            <a:pPr indent="0" lvl="0" marL="0" rtl="0" algn="l">
              <a:lnSpc>
                <a:spcPct val="115000"/>
              </a:lnSpc>
              <a:spcBef>
                <a:spcPts val="0"/>
              </a:spcBef>
              <a:spcAft>
                <a:spcPts val="0"/>
              </a:spcAft>
              <a:buNone/>
            </a:pPr>
            <a:r>
              <a:rPr lang="fr" sz="700">
                <a:solidFill>
                  <a:schemeClr val="lt1"/>
                </a:solidFill>
              </a:rPr>
              <a:t>Ou afficher les dernières alertes :</a:t>
            </a:r>
            <a:endParaRPr sz="700">
              <a:solidFill>
                <a:schemeClr val="lt1"/>
              </a:solidFill>
            </a:endParaRPr>
          </a:p>
          <a:p>
            <a:pPr indent="0" lvl="0" marL="0" rtl="0" algn="l">
              <a:lnSpc>
                <a:spcPct val="115000"/>
              </a:lnSpc>
              <a:spcBef>
                <a:spcPts val="0"/>
              </a:spcBef>
              <a:spcAft>
                <a:spcPts val="0"/>
              </a:spcAft>
              <a:buNone/>
            </a:pPr>
            <a:r>
              <a:t/>
            </a:r>
            <a:endParaRPr sz="700">
              <a:solidFill>
                <a:schemeClr val="lt1"/>
              </a:solidFill>
            </a:endParaRPr>
          </a:p>
          <a:p>
            <a:pPr indent="0" lvl="0" marL="0" rtl="0" algn="l">
              <a:lnSpc>
                <a:spcPct val="115000"/>
              </a:lnSpc>
              <a:spcBef>
                <a:spcPts val="0"/>
              </a:spcBef>
              <a:spcAft>
                <a:spcPts val="0"/>
              </a:spcAft>
              <a:buNone/>
            </a:pPr>
            <a:r>
              <a:rPr lang="fr" sz="700">
                <a:solidFill>
                  <a:srgbClr val="188038"/>
                </a:solidFill>
              </a:rPr>
              <a:t>tail -n 100 /var/ossec/logs/alerts/alerts.log</a:t>
            </a:r>
            <a:endParaRPr sz="700">
              <a:solidFill>
                <a:srgbClr val="188038"/>
              </a:solidFill>
            </a:endParaRPr>
          </a:p>
          <a:p>
            <a:pPr indent="0" lvl="0" marL="0" rtl="0" algn="l">
              <a:lnSpc>
                <a:spcPct val="115000"/>
              </a:lnSpc>
              <a:spcBef>
                <a:spcPts val="0"/>
              </a:spcBef>
              <a:spcAft>
                <a:spcPts val="0"/>
              </a:spcAft>
              <a:buNone/>
            </a:pPr>
            <a:r>
              <a:t/>
            </a:r>
            <a:endParaRPr sz="800">
              <a:solidFill>
                <a:schemeClr val="lt1"/>
              </a:solidFill>
            </a:endParaRPr>
          </a:p>
        </p:txBody>
      </p:sp>
      <p:pic>
        <p:nvPicPr>
          <p:cNvPr id="273" name="Google Shape;273;p29"/>
          <p:cNvPicPr preferRelativeResize="0"/>
          <p:nvPr/>
        </p:nvPicPr>
        <p:blipFill rotWithShape="1">
          <a:blip r:embed="rId3">
            <a:alphaModFix/>
          </a:blip>
          <a:srcRect b="12549" l="0" r="0" t="0"/>
          <a:stretch/>
        </p:blipFill>
        <p:spPr>
          <a:xfrm>
            <a:off x="205275" y="3506600"/>
            <a:ext cx="2683550" cy="877425"/>
          </a:xfrm>
          <a:prstGeom prst="rect">
            <a:avLst/>
          </a:prstGeom>
          <a:noFill/>
          <a:ln>
            <a:noFill/>
          </a:ln>
        </p:spPr>
      </p:pic>
      <p:pic>
        <p:nvPicPr>
          <p:cNvPr id="274" name="Google Shape;274;p29"/>
          <p:cNvPicPr preferRelativeResize="0"/>
          <p:nvPr/>
        </p:nvPicPr>
        <p:blipFill>
          <a:blip r:embed="rId4">
            <a:alphaModFix/>
          </a:blip>
          <a:stretch>
            <a:fillRect/>
          </a:stretch>
        </p:blipFill>
        <p:spPr>
          <a:xfrm>
            <a:off x="205275" y="4451650"/>
            <a:ext cx="2890230" cy="570900"/>
          </a:xfrm>
          <a:prstGeom prst="rect">
            <a:avLst/>
          </a:prstGeom>
          <a:noFill/>
          <a:ln>
            <a:noFill/>
          </a:ln>
        </p:spPr>
      </p:pic>
      <p:sp>
        <p:nvSpPr>
          <p:cNvPr id="275" name="Google Shape;275;p29"/>
          <p:cNvSpPr txBox="1"/>
          <p:nvPr/>
        </p:nvSpPr>
        <p:spPr>
          <a:xfrm>
            <a:off x="4087075" y="886875"/>
            <a:ext cx="4752300" cy="303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900">
                <a:solidFill>
                  <a:schemeClr val="lt1"/>
                </a:solidFill>
              </a:rPr>
              <a:t>Résultats attendus :</a:t>
            </a:r>
            <a:endParaRPr sz="900">
              <a:solidFill>
                <a:schemeClr val="lt1"/>
              </a:solidFill>
            </a:endParaRPr>
          </a:p>
          <a:p>
            <a:pPr indent="0" lvl="0" marL="0" rtl="0" algn="l">
              <a:lnSpc>
                <a:spcPct val="115000"/>
              </a:lnSpc>
              <a:spcBef>
                <a:spcPts val="0"/>
              </a:spcBef>
              <a:spcAft>
                <a:spcPts val="0"/>
              </a:spcAft>
              <a:buNone/>
            </a:pPr>
            <a:r>
              <a:t/>
            </a:r>
            <a:endParaRPr sz="900"/>
          </a:p>
          <a:p>
            <a:pPr indent="0" lvl="0" marL="0" rtl="0" algn="l">
              <a:lnSpc>
                <a:spcPct val="115000"/>
              </a:lnSpc>
              <a:spcBef>
                <a:spcPts val="0"/>
              </a:spcBef>
              <a:spcAft>
                <a:spcPts val="0"/>
              </a:spcAft>
              <a:buNone/>
            </a:pPr>
            <a:r>
              <a:rPr lang="fr" sz="900">
                <a:solidFill>
                  <a:srgbClr val="188038"/>
                </a:solidFill>
              </a:rPr>
              <a:t>File added to the system.</a:t>
            </a:r>
            <a:endParaRPr sz="900">
              <a:solidFill>
                <a:srgbClr val="188038"/>
              </a:solidFill>
            </a:endParaRPr>
          </a:p>
          <a:p>
            <a:pPr indent="0" lvl="0" marL="0" rtl="0" algn="l">
              <a:lnSpc>
                <a:spcPct val="115000"/>
              </a:lnSpc>
              <a:spcBef>
                <a:spcPts val="0"/>
              </a:spcBef>
              <a:spcAft>
                <a:spcPts val="0"/>
              </a:spcAft>
              <a:buNone/>
            </a:pPr>
            <a:r>
              <a:t/>
            </a:r>
            <a:endParaRPr sz="900">
              <a:solidFill>
                <a:srgbClr val="188038"/>
              </a:solidFill>
            </a:endParaRPr>
          </a:p>
          <a:p>
            <a:pPr indent="0" lvl="0" marL="0" rtl="0" algn="l">
              <a:lnSpc>
                <a:spcPct val="115000"/>
              </a:lnSpc>
              <a:spcBef>
                <a:spcPts val="0"/>
              </a:spcBef>
              <a:spcAft>
                <a:spcPts val="0"/>
              </a:spcAft>
              <a:buNone/>
            </a:pPr>
            <a:r>
              <a:rPr lang="fr" sz="900">
                <a:solidFill>
                  <a:srgbClr val="188038"/>
                </a:solidFill>
              </a:rPr>
              <a:t>Integrity checksum changed.</a:t>
            </a:r>
            <a:endParaRPr sz="900">
              <a:solidFill>
                <a:srgbClr val="188038"/>
              </a:solidFill>
            </a:endParaRPr>
          </a:p>
          <a:p>
            <a:pPr indent="0" lvl="0" marL="0" rtl="0" algn="l">
              <a:lnSpc>
                <a:spcPct val="115000"/>
              </a:lnSpc>
              <a:spcBef>
                <a:spcPts val="0"/>
              </a:spcBef>
              <a:spcAft>
                <a:spcPts val="0"/>
              </a:spcAft>
              <a:buNone/>
            </a:pPr>
            <a:r>
              <a:t/>
            </a:r>
            <a:endParaRPr sz="900"/>
          </a:p>
          <a:p>
            <a:pPr indent="0" lvl="0" marL="0" rtl="0" algn="l">
              <a:lnSpc>
                <a:spcPct val="115000"/>
              </a:lnSpc>
              <a:spcBef>
                <a:spcPts val="0"/>
              </a:spcBef>
              <a:spcAft>
                <a:spcPts val="0"/>
              </a:spcAft>
              <a:buNone/>
            </a:pPr>
            <a:r>
              <a:rPr lang="fr" sz="900">
                <a:solidFill>
                  <a:schemeClr val="lt1"/>
                </a:solidFill>
              </a:rPr>
              <a:t>Interprétation :</a:t>
            </a:r>
            <a:endParaRPr sz="900">
              <a:solidFill>
                <a:schemeClr val="lt1"/>
              </a:solidFill>
            </a:endParaRPr>
          </a:p>
          <a:p>
            <a:pPr indent="0" lvl="0" marL="0" rtl="0" algn="l">
              <a:lnSpc>
                <a:spcPct val="115000"/>
              </a:lnSpc>
              <a:spcBef>
                <a:spcPts val="0"/>
              </a:spcBef>
              <a:spcAft>
                <a:spcPts val="0"/>
              </a:spcAft>
              <a:buNone/>
            </a:pPr>
            <a:r>
              <a:t/>
            </a:r>
            <a:endParaRPr sz="900">
              <a:solidFill>
                <a:schemeClr val="lt1"/>
              </a:solidFill>
            </a:endParaRPr>
          </a:p>
          <a:p>
            <a:pPr indent="0" lvl="0" marL="0" rtl="0" algn="l">
              <a:lnSpc>
                <a:spcPct val="115000"/>
              </a:lnSpc>
              <a:spcBef>
                <a:spcPts val="0"/>
              </a:spcBef>
              <a:spcAft>
                <a:spcPts val="0"/>
              </a:spcAft>
              <a:buNone/>
            </a:pPr>
            <a:r>
              <a:rPr lang="fr" sz="900">
                <a:solidFill>
                  <a:schemeClr val="lt1"/>
                </a:solidFill>
              </a:rPr>
              <a:t>OSSEC détecte d’abord la création du fichier, puis sa modification. La création correspond généralement à la règle 554, avec le message </a:t>
            </a:r>
            <a:r>
              <a:rPr lang="fr" sz="900"/>
              <a:t>:</a:t>
            </a:r>
            <a:endParaRPr sz="900"/>
          </a:p>
          <a:p>
            <a:pPr indent="0" lvl="0" marL="0" rtl="0" algn="l">
              <a:lnSpc>
                <a:spcPct val="115000"/>
              </a:lnSpc>
              <a:spcBef>
                <a:spcPts val="0"/>
              </a:spcBef>
              <a:spcAft>
                <a:spcPts val="0"/>
              </a:spcAft>
              <a:buNone/>
            </a:pPr>
            <a:r>
              <a:t/>
            </a:r>
            <a:endParaRPr sz="900"/>
          </a:p>
          <a:p>
            <a:pPr indent="0" lvl="0" marL="0" rtl="0" algn="l">
              <a:lnSpc>
                <a:spcPct val="115000"/>
              </a:lnSpc>
              <a:spcBef>
                <a:spcPts val="0"/>
              </a:spcBef>
              <a:spcAft>
                <a:spcPts val="0"/>
              </a:spcAft>
              <a:buNone/>
            </a:pPr>
            <a:r>
              <a:rPr lang="fr" sz="900">
                <a:solidFill>
                  <a:srgbClr val="188038"/>
                </a:solidFill>
              </a:rPr>
              <a:t>File added to the system.</a:t>
            </a:r>
            <a:endParaRPr sz="900">
              <a:solidFill>
                <a:srgbClr val="188038"/>
              </a:solidFill>
            </a:endParaRPr>
          </a:p>
          <a:p>
            <a:pPr indent="0" lvl="0" marL="0" rtl="0" algn="l">
              <a:lnSpc>
                <a:spcPct val="115000"/>
              </a:lnSpc>
              <a:spcBef>
                <a:spcPts val="0"/>
              </a:spcBef>
              <a:spcAft>
                <a:spcPts val="0"/>
              </a:spcAft>
              <a:buNone/>
            </a:pPr>
            <a:r>
              <a:t/>
            </a:r>
            <a:endParaRPr sz="900"/>
          </a:p>
          <a:p>
            <a:pPr indent="0" lvl="0" marL="0" rtl="0" algn="l">
              <a:lnSpc>
                <a:spcPct val="115000"/>
              </a:lnSpc>
              <a:spcBef>
                <a:spcPts val="0"/>
              </a:spcBef>
              <a:spcAft>
                <a:spcPts val="0"/>
              </a:spcAft>
              <a:buNone/>
            </a:pPr>
            <a:r>
              <a:rPr lang="fr" sz="900">
                <a:solidFill>
                  <a:schemeClr val="lt1"/>
                </a:solidFill>
              </a:rPr>
              <a:t>La modification est détectée par un changement d’empreinte, avec un message du type :</a:t>
            </a:r>
            <a:endParaRPr sz="900">
              <a:solidFill>
                <a:schemeClr val="lt1"/>
              </a:solidFill>
            </a:endParaRPr>
          </a:p>
          <a:p>
            <a:pPr indent="0" lvl="0" marL="0" rtl="0" algn="l">
              <a:lnSpc>
                <a:spcPct val="115000"/>
              </a:lnSpc>
              <a:spcBef>
                <a:spcPts val="0"/>
              </a:spcBef>
              <a:spcAft>
                <a:spcPts val="0"/>
              </a:spcAft>
              <a:buNone/>
            </a:pPr>
            <a:r>
              <a:t/>
            </a:r>
            <a:endParaRPr sz="900"/>
          </a:p>
          <a:p>
            <a:pPr indent="0" lvl="0" marL="0" rtl="0" algn="l">
              <a:lnSpc>
                <a:spcPct val="115000"/>
              </a:lnSpc>
              <a:spcBef>
                <a:spcPts val="0"/>
              </a:spcBef>
              <a:spcAft>
                <a:spcPts val="0"/>
              </a:spcAft>
              <a:buNone/>
            </a:pPr>
            <a:r>
              <a:rPr lang="fr" sz="900">
                <a:solidFill>
                  <a:srgbClr val="188038"/>
                </a:solidFill>
              </a:rPr>
              <a:t>Integrity checksum changed.</a:t>
            </a:r>
            <a:endParaRPr sz="900">
              <a:solidFill>
                <a:srgbClr val="188038"/>
              </a:solidFill>
            </a:endParaRPr>
          </a:p>
          <a:p>
            <a:pPr indent="0" lvl="0" marL="0" rtl="0" algn="l">
              <a:lnSpc>
                <a:spcPct val="115000"/>
              </a:lnSpc>
              <a:spcBef>
                <a:spcPts val="0"/>
              </a:spcBef>
              <a:spcAft>
                <a:spcPts val="0"/>
              </a:spcAft>
              <a:buNone/>
            </a:pPr>
            <a:r>
              <a:rPr lang="fr" sz="900">
                <a:solidFill>
                  <a:schemeClr val="lt1"/>
                </a:solidFill>
              </a:rPr>
              <a:t>Cette simulation valide le fonctionnement du contrôle d’intégrité des fichiers sur l’agent client.</a:t>
            </a:r>
            <a:endParaRPr sz="9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0"/>
          <p:cNvSpPr txBox="1"/>
          <p:nvPr>
            <p:ph idx="4294967295" type="title"/>
          </p:nvPr>
        </p:nvSpPr>
        <p:spPr>
          <a:xfrm>
            <a:off x="205275" y="315975"/>
            <a:ext cx="8938800" cy="57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Job 04 – Simulations et tests de sécurité</a:t>
            </a:r>
            <a:endParaRPr/>
          </a:p>
        </p:txBody>
      </p:sp>
      <p:sp>
        <p:nvSpPr>
          <p:cNvPr id="281" name="Google Shape;281;p30"/>
          <p:cNvSpPr txBox="1"/>
          <p:nvPr/>
        </p:nvSpPr>
        <p:spPr>
          <a:xfrm>
            <a:off x="205275" y="813775"/>
            <a:ext cx="4424100" cy="453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800">
                <a:solidFill>
                  <a:schemeClr val="lt1"/>
                </a:solidFill>
              </a:rPr>
              <a:t>Cette simulation consiste à provoquer plusieurs échecs d’authentification SSH vers la VM cliente. Elle permet de reproduire un comportement typique d’une tentative d’accès non autorisé.</a:t>
            </a:r>
            <a:endParaRPr sz="8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Depuis le serveur OSSEC ou une autre machine du réseau, lancer une connexion SSH vers la VM cliente avec un utilisateur inexistant :</a:t>
            </a:r>
            <a:endParaRPr sz="8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rgbClr val="188038"/>
                </a:solidFill>
              </a:rPr>
              <a:t>ssh fauxuser@192.168.30.101</a:t>
            </a:r>
            <a:endParaRPr sz="800">
              <a:solidFill>
                <a:srgbClr val="188038"/>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Entrer volontairement un mauvais mot de passe plusieurs fois.</a:t>
            </a:r>
            <a:endParaRPr sz="8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Sur la VM cliente, les échecs peuvent être visibles dans le journal d’authentification :</a:t>
            </a:r>
            <a:endParaRPr sz="8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rgbClr val="188038"/>
                </a:solidFill>
              </a:rPr>
              <a:t>tail -n 50 /var/log/auth.log</a:t>
            </a:r>
            <a:endParaRPr sz="800">
              <a:solidFill>
                <a:srgbClr val="188038"/>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Sur le serveur OSSEC, rechercher les alertes liées à SSH :</a:t>
            </a:r>
            <a:endParaRPr sz="8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rgbClr val="188038"/>
                </a:solidFill>
              </a:rPr>
              <a:t>grep -i "sshd" /var/ossec/logs/alerts/alerts.log | tail -n 50</a:t>
            </a:r>
            <a:endParaRPr sz="800">
              <a:solidFill>
                <a:srgbClr val="188038"/>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Ou :</a:t>
            </a:r>
            <a:endParaRPr sz="8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rgbClr val="188038"/>
                </a:solidFill>
              </a:rPr>
              <a:t>grep -i "failed" /var/ossec/logs/alerts/alerts.log | tail -n 50</a:t>
            </a:r>
            <a:endParaRPr sz="800">
              <a:solidFill>
                <a:srgbClr val="188038"/>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Résultats attendus :</a:t>
            </a:r>
            <a:endParaRPr sz="800">
              <a:solidFill>
                <a:schemeClr val="lt1"/>
              </a:solidFill>
            </a:endParaRPr>
          </a:p>
          <a:p>
            <a:pPr indent="0" lvl="0" marL="0" rtl="0" algn="l">
              <a:lnSpc>
                <a:spcPct val="115000"/>
              </a:lnSpc>
              <a:spcBef>
                <a:spcPts val="0"/>
              </a:spcBef>
              <a:spcAft>
                <a:spcPts val="0"/>
              </a:spcAft>
              <a:buNone/>
            </a:pPr>
            <a:r>
              <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sshd</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authentication failed</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Failed password</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Invalid user</a:t>
            </a:r>
            <a:endParaRPr sz="800">
              <a:solidFill>
                <a:srgbClr val="188038"/>
              </a:solidFill>
            </a:endParaRPr>
          </a:p>
          <a:p>
            <a:pPr indent="0" lvl="0" marL="0" rtl="0" algn="l">
              <a:lnSpc>
                <a:spcPct val="115000"/>
              </a:lnSpc>
              <a:spcBef>
                <a:spcPts val="0"/>
              </a:spcBef>
              <a:spcAft>
                <a:spcPts val="0"/>
              </a:spcAft>
              <a:buNone/>
            </a:pPr>
            <a:r>
              <a:t/>
            </a:r>
            <a:endParaRPr sz="7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p:txBody>
      </p:sp>
      <p:pic>
        <p:nvPicPr>
          <p:cNvPr id="282" name="Google Shape;282;p30"/>
          <p:cNvPicPr preferRelativeResize="0"/>
          <p:nvPr/>
        </p:nvPicPr>
        <p:blipFill>
          <a:blip r:embed="rId3">
            <a:alphaModFix/>
          </a:blip>
          <a:stretch>
            <a:fillRect/>
          </a:stretch>
        </p:blipFill>
        <p:spPr>
          <a:xfrm>
            <a:off x="4693075" y="886875"/>
            <a:ext cx="3971250" cy="896500"/>
          </a:xfrm>
          <a:prstGeom prst="rect">
            <a:avLst/>
          </a:prstGeom>
          <a:noFill/>
          <a:ln>
            <a:noFill/>
          </a:ln>
        </p:spPr>
      </p:pic>
      <p:sp>
        <p:nvSpPr>
          <p:cNvPr id="283" name="Google Shape;283;p30"/>
          <p:cNvSpPr txBox="1"/>
          <p:nvPr/>
        </p:nvSpPr>
        <p:spPr>
          <a:xfrm>
            <a:off x="4693075" y="1941450"/>
            <a:ext cx="4350600" cy="143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1200">
                <a:solidFill>
                  <a:schemeClr val="lt1"/>
                </a:solidFill>
              </a:rPr>
              <a:t>Interprétation :</a:t>
            </a:r>
            <a:endParaRPr sz="1200">
              <a:solidFill>
                <a:schemeClr val="lt1"/>
              </a:solidFill>
            </a:endParaRPr>
          </a:p>
          <a:p>
            <a:pPr indent="0" lvl="0" marL="0" rtl="0" algn="l">
              <a:lnSpc>
                <a:spcPct val="115000"/>
              </a:lnSpc>
              <a:spcBef>
                <a:spcPts val="0"/>
              </a:spcBef>
              <a:spcAft>
                <a:spcPts val="0"/>
              </a:spcAft>
              <a:buNone/>
            </a:pPr>
            <a:r>
              <a:rPr lang="fr" sz="1200">
                <a:solidFill>
                  <a:schemeClr val="lt1"/>
                </a:solidFill>
              </a:rPr>
              <a:t>OSSEC collecte les logs d’authentification de la VM cliente et détecte les tentatives de connexion échouées. Ce scénario permet d’introduire la logique de détection d’une attaque par force brute, qui pourra être approfondie avec des règles personnalisées et une réponse active.</a:t>
            </a:r>
            <a:endParaRPr sz="1200">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1"/>
          <p:cNvSpPr txBox="1"/>
          <p:nvPr>
            <p:ph idx="4294967295" type="title"/>
          </p:nvPr>
        </p:nvSpPr>
        <p:spPr>
          <a:xfrm>
            <a:off x="205275" y="315975"/>
            <a:ext cx="8938800" cy="57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Job 04 – Simulations et tests de sécurité</a:t>
            </a:r>
            <a:endParaRPr/>
          </a:p>
        </p:txBody>
      </p:sp>
      <p:sp>
        <p:nvSpPr>
          <p:cNvPr id="289" name="Google Shape;289;p31"/>
          <p:cNvSpPr txBox="1"/>
          <p:nvPr/>
        </p:nvSpPr>
        <p:spPr>
          <a:xfrm>
            <a:off x="205275" y="813775"/>
            <a:ext cx="4424100" cy="37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800">
                <a:solidFill>
                  <a:schemeClr val="lt1"/>
                </a:solidFill>
              </a:rPr>
              <a:t>Cette simulation vise à générer une action d’administration inhabituelle sur la VM cliente. Un exemple simple consiste à créer un utilisateur suspect puis à lui attribuer des privilèges élevés.</a:t>
            </a:r>
            <a:endParaRPr sz="8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Sur la VM cliente :</a:t>
            </a:r>
            <a:endParaRPr sz="8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rgbClr val="188038"/>
                </a:solidFill>
              </a:rPr>
              <a:t>su -</a:t>
            </a:r>
            <a:endParaRPr sz="800">
              <a:solidFill>
                <a:srgbClr val="188038"/>
              </a:solidFill>
            </a:endParaRPr>
          </a:p>
          <a:p>
            <a:pPr indent="0" lvl="0" marL="0" rtl="0" algn="l">
              <a:lnSpc>
                <a:spcPct val="115000"/>
              </a:lnSpc>
              <a:spcBef>
                <a:spcPts val="0"/>
              </a:spcBef>
              <a:spcAft>
                <a:spcPts val="0"/>
              </a:spcAft>
              <a:buNone/>
            </a:pPr>
            <a:r>
              <a:rPr lang="fr" sz="800">
                <a:solidFill>
                  <a:srgbClr val="188038"/>
                </a:solidFill>
              </a:rPr>
              <a:t>useradd attacker_test</a:t>
            </a:r>
            <a:endParaRPr sz="800">
              <a:solidFill>
                <a:srgbClr val="188038"/>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Ajouter ensuite cet utilisateur au groupe sudo :</a:t>
            </a:r>
            <a:endParaRPr sz="8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rgbClr val="188038"/>
                </a:solidFill>
              </a:rPr>
              <a:t>usermod -aG sudo attacker_test</a:t>
            </a:r>
            <a:endParaRPr sz="800">
              <a:solidFill>
                <a:srgbClr val="188038"/>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Sur le serveur OSSEC, rechercher les alertes :</a:t>
            </a:r>
            <a:endParaRPr sz="8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rgbClr val="188038"/>
                </a:solidFill>
              </a:rPr>
              <a:t>grep -i "attacker_test" /var/ossec/logs/alerts/alerts.log</a:t>
            </a:r>
            <a:endParaRPr sz="800">
              <a:solidFill>
                <a:srgbClr val="188038"/>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Ou :</a:t>
            </a:r>
            <a:endParaRPr sz="8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rgbClr val="188038"/>
                </a:solidFill>
              </a:rPr>
              <a:t>grep -i "sudo" /var/ossec/logs/alerts/alerts.log | tail -n 50</a:t>
            </a:r>
            <a:endParaRPr sz="800">
              <a:solidFill>
                <a:srgbClr val="188038"/>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Il est également possible de vérifier les logs locaux de la VM cliente :</a:t>
            </a:r>
            <a:endParaRPr sz="800">
              <a:solidFill>
                <a:schemeClr val="lt1"/>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rgbClr val="188038"/>
                </a:solidFill>
              </a:rPr>
              <a:t>tail -n 50 /var/log/auth.log</a:t>
            </a:r>
            <a:endParaRPr sz="800">
              <a:solidFill>
                <a:srgbClr val="188038"/>
              </a:solidFill>
            </a:endParaRPr>
          </a:p>
          <a:p>
            <a:pPr indent="0" lvl="0" marL="0" rtl="0" algn="l">
              <a:lnSpc>
                <a:spcPct val="115000"/>
              </a:lnSpc>
              <a:spcBef>
                <a:spcPts val="0"/>
              </a:spcBef>
              <a:spcAft>
                <a:spcPts val="0"/>
              </a:spcAft>
              <a:buNone/>
            </a:pPr>
            <a:r>
              <a:t/>
            </a:r>
            <a:endParaRPr sz="800">
              <a:solidFill>
                <a:schemeClr val="lt1"/>
              </a:solidFill>
            </a:endParaRPr>
          </a:p>
        </p:txBody>
      </p:sp>
      <p:pic>
        <p:nvPicPr>
          <p:cNvPr id="290" name="Google Shape;290;p31"/>
          <p:cNvPicPr preferRelativeResize="0"/>
          <p:nvPr/>
        </p:nvPicPr>
        <p:blipFill>
          <a:blip r:embed="rId3">
            <a:alphaModFix/>
          </a:blip>
          <a:stretch>
            <a:fillRect/>
          </a:stretch>
        </p:blipFill>
        <p:spPr>
          <a:xfrm>
            <a:off x="259350" y="4333325"/>
            <a:ext cx="4544925" cy="761500"/>
          </a:xfrm>
          <a:prstGeom prst="rect">
            <a:avLst/>
          </a:prstGeom>
          <a:noFill/>
          <a:ln>
            <a:noFill/>
          </a:ln>
        </p:spPr>
      </p:pic>
      <p:sp>
        <p:nvSpPr>
          <p:cNvPr id="291" name="Google Shape;291;p31"/>
          <p:cNvSpPr txBox="1"/>
          <p:nvPr/>
        </p:nvSpPr>
        <p:spPr>
          <a:xfrm>
            <a:off x="4872325" y="886875"/>
            <a:ext cx="3831000" cy="355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fr" sz="1200">
                <a:solidFill>
                  <a:schemeClr val="lt1"/>
                </a:solidFill>
              </a:rPr>
              <a:t>Interprétation :</a:t>
            </a:r>
            <a:endParaRPr b="1" sz="1200">
              <a:solidFill>
                <a:schemeClr val="lt1"/>
              </a:solidFill>
            </a:endParaRPr>
          </a:p>
          <a:p>
            <a:pPr indent="0" lvl="0" marL="0" rtl="0" algn="l">
              <a:lnSpc>
                <a:spcPct val="115000"/>
              </a:lnSpc>
              <a:spcBef>
                <a:spcPts val="0"/>
              </a:spcBef>
              <a:spcAft>
                <a:spcPts val="0"/>
              </a:spcAft>
              <a:buNone/>
            </a:pPr>
            <a:r>
              <a:t/>
            </a:r>
            <a:endParaRPr sz="1200">
              <a:solidFill>
                <a:schemeClr val="lt1"/>
              </a:solidFill>
            </a:endParaRPr>
          </a:p>
          <a:p>
            <a:pPr indent="0" lvl="0" marL="0" rtl="0" algn="l">
              <a:lnSpc>
                <a:spcPct val="115000"/>
              </a:lnSpc>
              <a:spcBef>
                <a:spcPts val="0"/>
              </a:spcBef>
              <a:spcAft>
                <a:spcPts val="0"/>
              </a:spcAft>
              <a:buNone/>
            </a:pPr>
            <a:r>
              <a:rPr lang="fr" sz="1200">
                <a:solidFill>
                  <a:schemeClr val="lt1"/>
                </a:solidFill>
              </a:rPr>
              <a:t>La création d’un nouvel utilisateur et l’ajout dans un groupe privilégié peuvent être considérés comme des actions sensibles. Dans un contexte réel, ce type d’action pourrait indiquer une tentative de persistance ou d’élévation de privilèges.</a:t>
            </a:r>
            <a:endParaRPr sz="1200">
              <a:solidFill>
                <a:schemeClr val="lt1"/>
              </a:solidFill>
            </a:endParaRPr>
          </a:p>
          <a:p>
            <a:pPr indent="0" lvl="0" marL="0" rtl="0" algn="l">
              <a:lnSpc>
                <a:spcPct val="115000"/>
              </a:lnSpc>
              <a:spcBef>
                <a:spcPts val="0"/>
              </a:spcBef>
              <a:spcAft>
                <a:spcPts val="0"/>
              </a:spcAft>
              <a:buNone/>
            </a:pPr>
            <a:r>
              <a:t/>
            </a:r>
            <a:endParaRPr sz="1200">
              <a:solidFill>
                <a:schemeClr val="lt1"/>
              </a:solidFill>
            </a:endParaRPr>
          </a:p>
          <a:p>
            <a:pPr indent="0" lvl="0" marL="0" rtl="0" algn="l">
              <a:lnSpc>
                <a:spcPct val="115000"/>
              </a:lnSpc>
              <a:spcBef>
                <a:spcPts val="0"/>
              </a:spcBef>
              <a:spcAft>
                <a:spcPts val="0"/>
              </a:spcAft>
              <a:buNone/>
            </a:pPr>
            <a:r>
              <a:rPr lang="fr" sz="1200">
                <a:solidFill>
                  <a:schemeClr val="lt1"/>
                </a:solidFill>
              </a:rPr>
              <a:t>Après le test, nettoyer l’environnement :</a:t>
            </a:r>
            <a:endParaRPr sz="1200">
              <a:solidFill>
                <a:schemeClr val="lt1"/>
              </a:solidFill>
            </a:endParaRPr>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fr" sz="1200">
                <a:solidFill>
                  <a:srgbClr val="188038"/>
                </a:solidFill>
              </a:rPr>
              <a:t>deluser attacker_test</a:t>
            </a:r>
            <a:endParaRPr sz="1200">
              <a:solidFill>
                <a:srgbClr val="188038"/>
              </a:solidFill>
            </a:endParaRPr>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fr" sz="1200">
                <a:solidFill>
                  <a:schemeClr val="lt1"/>
                </a:solidFill>
              </a:rPr>
              <a:t>Si le groupe ou le répertoire personnel ont été créés, nettoyer également si nécessaire :</a:t>
            </a:r>
            <a:endParaRPr sz="1200">
              <a:solidFill>
                <a:schemeClr val="lt1"/>
              </a:solidFill>
            </a:endParaRPr>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fr" sz="1200">
                <a:solidFill>
                  <a:srgbClr val="188038"/>
                </a:solidFill>
              </a:rPr>
              <a:t>rm -rf /home/attacker_test</a:t>
            </a:r>
            <a:endParaRPr sz="1200">
              <a:solidFill>
                <a:srgbClr val="188038"/>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2"/>
          <p:cNvSpPr txBox="1"/>
          <p:nvPr>
            <p:ph idx="4294967295" type="title"/>
          </p:nvPr>
        </p:nvSpPr>
        <p:spPr>
          <a:xfrm>
            <a:off x="205275" y="315975"/>
            <a:ext cx="8938800" cy="57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Job 04 – Simulations et tests de sécurité</a:t>
            </a:r>
            <a:endParaRPr/>
          </a:p>
        </p:txBody>
      </p:sp>
      <p:sp>
        <p:nvSpPr>
          <p:cNvPr id="297" name="Google Shape;297;p32"/>
          <p:cNvSpPr txBox="1"/>
          <p:nvPr/>
        </p:nvSpPr>
        <p:spPr>
          <a:xfrm>
            <a:off x="205275" y="813775"/>
            <a:ext cx="4424100" cy="335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600">
                <a:solidFill>
                  <a:schemeClr val="lt1"/>
                </a:solidFill>
              </a:rPr>
              <a:t>Pour des raisons de sécurité, il ne faut pas installer de vrai rootkit dans le laboratoire. L’objectif est de simuler des traces compatibles avec un comportement de rootkit : fichier caché, emplacement inhabituel, binaire suspect ou script dissimulé.</a:t>
            </a:r>
            <a:endParaRPr sz="600">
              <a:solidFill>
                <a:schemeClr val="lt1"/>
              </a:solidFill>
            </a:endParaRPr>
          </a:p>
          <a:p>
            <a:pPr indent="0" lvl="0" marL="0" rtl="0" algn="l">
              <a:lnSpc>
                <a:spcPct val="115000"/>
              </a:lnSpc>
              <a:spcBef>
                <a:spcPts val="0"/>
              </a:spcBef>
              <a:spcAft>
                <a:spcPts val="0"/>
              </a:spcAft>
              <a:buNone/>
            </a:pPr>
            <a:r>
              <a:t/>
            </a:r>
            <a:endParaRPr sz="600">
              <a:solidFill>
                <a:schemeClr val="lt1"/>
              </a:solidFill>
            </a:endParaRPr>
          </a:p>
          <a:p>
            <a:pPr indent="0" lvl="0" marL="0" rtl="0" algn="l">
              <a:lnSpc>
                <a:spcPct val="115000"/>
              </a:lnSpc>
              <a:spcBef>
                <a:spcPts val="0"/>
              </a:spcBef>
              <a:spcAft>
                <a:spcPts val="0"/>
              </a:spcAft>
              <a:buNone/>
            </a:pPr>
            <a:r>
              <a:rPr lang="fr" sz="600">
                <a:solidFill>
                  <a:schemeClr val="lt1"/>
                </a:solidFill>
              </a:rPr>
              <a:t>Sur la VM cliente :</a:t>
            </a:r>
            <a:endParaRPr sz="600">
              <a:solidFill>
                <a:schemeClr val="lt1"/>
              </a:solidFill>
            </a:endParaRPr>
          </a:p>
          <a:p>
            <a:pPr indent="0" lvl="0" marL="0" rtl="0" algn="l">
              <a:lnSpc>
                <a:spcPct val="115000"/>
              </a:lnSpc>
              <a:spcBef>
                <a:spcPts val="0"/>
              </a:spcBef>
              <a:spcAft>
                <a:spcPts val="0"/>
              </a:spcAft>
              <a:buNone/>
            </a:pPr>
            <a:r>
              <a:rPr lang="fr" sz="600">
                <a:solidFill>
                  <a:srgbClr val="188038"/>
                </a:solidFill>
              </a:rPr>
              <a:t>su -</a:t>
            </a:r>
            <a:endParaRPr sz="600">
              <a:solidFill>
                <a:srgbClr val="188038"/>
              </a:solidFill>
            </a:endParaRPr>
          </a:p>
          <a:p>
            <a:pPr indent="0" lvl="0" marL="0" rtl="0" algn="l">
              <a:lnSpc>
                <a:spcPct val="115000"/>
              </a:lnSpc>
              <a:spcBef>
                <a:spcPts val="0"/>
              </a:spcBef>
              <a:spcAft>
                <a:spcPts val="0"/>
              </a:spcAft>
              <a:buNone/>
            </a:pPr>
            <a:r>
              <a:rPr lang="fr" sz="600">
                <a:solidFill>
                  <a:srgbClr val="188038"/>
                </a:solidFill>
              </a:rPr>
              <a:t>mkdir -p /usr/bin/.hidden</a:t>
            </a:r>
            <a:endParaRPr sz="600">
              <a:solidFill>
                <a:srgbClr val="188038"/>
              </a:solidFill>
            </a:endParaRPr>
          </a:p>
          <a:p>
            <a:pPr indent="0" lvl="0" marL="0" rtl="0" algn="l">
              <a:lnSpc>
                <a:spcPct val="115000"/>
              </a:lnSpc>
              <a:spcBef>
                <a:spcPts val="0"/>
              </a:spcBef>
              <a:spcAft>
                <a:spcPts val="0"/>
              </a:spcAft>
              <a:buNone/>
            </a:pPr>
            <a:r>
              <a:t/>
            </a:r>
            <a:endParaRPr sz="600">
              <a:solidFill>
                <a:schemeClr val="lt1"/>
              </a:solidFill>
            </a:endParaRPr>
          </a:p>
          <a:p>
            <a:pPr indent="0" lvl="0" marL="0" rtl="0" algn="l">
              <a:lnSpc>
                <a:spcPct val="115000"/>
              </a:lnSpc>
              <a:spcBef>
                <a:spcPts val="0"/>
              </a:spcBef>
              <a:spcAft>
                <a:spcPts val="0"/>
              </a:spcAft>
              <a:buNone/>
            </a:pPr>
            <a:r>
              <a:rPr lang="fr" sz="600">
                <a:solidFill>
                  <a:schemeClr val="lt1"/>
                </a:solidFill>
              </a:rPr>
              <a:t>Créer un faux fichier suspect :</a:t>
            </a:r>
            <a:endParaRPr sz="600">
              <a:solidFill>
                <a:schemeClr val="lt1"/>
              </a:solidFill>
            </a:endParaRPr>
          </a:p>
          <a:p>
            <a:pPr indent="0" lvl="0" marL="0" rtl="0" algn="l">
              <a:lnSpc>
                <a:spcPct val="115000"/>
              </a:lnSpc>
              <a:spcBef>
                <a:spcPts val="0"/>
              </a:spcBef>
              <a:spcAft>
                <a:spcPts val="0"/>
              </a:spcAft>
              <a:buNone/>
            </a:pPr>
            <a:r>
              <a:rPr lang="fr" sz="600">
                <a:solidFill>
                  <a:srgbClr val="188038"/>
                </a:solidFill>
              </a:rPr>
              <a:t>cat &gt; /usr/bin/.hidden/fake_rootkit &lt;&lt;EOF</a:t>
            </a:r>
            <a:endParaRPr sz="600">
              <a:solidFill>
                <a:srgbClr val="188038"/>
              </a:solidFill>
            </a:endParaRPr>
          </a:p>
          <a:p>
            <a:pPr indent="0" lvl="0" marL="0" rtl="0" algn="l">
              <a:lnSpc>
                <a:spcPct val="115000"/>
              </a:lnSpc>
              <a:spcBef>
                <a:spcPts val="0"/>
              </a:spcBef>
              <a:spcAft>
                <a:spcPts val="0"/>
              </a:spcAft>
              <a:buNone/>
            </a:pPr>
            <a:r>
              <a:rPr lang="fr" sz="600">
                <a:solidFill>
                  <a:srgbClr val="188038"/>
                </a:solidFill>
              </a:rPr>
              <a:t>#!/bin/bash</a:t>
            </a:r>
            <a:endParaRPr sz="600">
              <a:solidFill>
                <a:srgbClr val="188038"/>
              </a:solidFill>
            </a:endParaRPr>
          </a:p>
          <a:p>
            <a:pPr indent="0" lvl="0" marL="0" rtl="0" algn="l">
              <a:lnSpc>
                <a:spcPct val="115000"/>
              </a:lnSpc>
              <a:spcBef>
                <a:spcPts val="0"/>
              </a:spcBef>
              <a:spcAft>
                <a:spcPts val="0"/>
              </a:spcAft>
              <a:buNone/>
            </a:pPr>
            <a:r>
              <a:rPr lang="fr" sz="600">
                <a:solidFill>
                  <a:srgbClr val="188038"/>
                </a:solidFill>
              </a:rPr>
              <a:t>echo "simulation rootkit"</a:t>
            </a:r>
            <a:endParaRPr sz="600">
              <a:solidFill>
                <a:srgbClr val="188038"/>
              </a:solidFill>
            </a:endParaRPr>
          </a:p>
          <a:p>
            <a:pPr indent="0" lvl="0" marL="0" rtl="0" algn="l">
              <a:lnSpc>
                <a:spcPct val="115000"/>
              </a:lnSpc>
              <a:spcBef>
                <a:spcPts val="0"/>
              </a:spcBef>
              <a:spcAft>
                <a:spcPts val="0"/>
              </a:spcAft>
              <a:buNone/>
            </a:pPr>
            <a:r>
              <a:rPr lang="fr" sz="600">
                <a:solidFill>
                  <a:srgbClr val="188038"/>
                </a:solidFill>
              </a:rPr>
              <a:t>EOF</a:t>
            </a:r>
            <a:endParaRPr sz="600">
              <a:solidFill>
                <a:srgbClr val="188038"/>
              </a:solidFill>
            </a:endParaRPr>
          </a:p>
          <a:p>
            <a:pPr indent="0" lvl="0" marL="0" rtl="0" algn="l">
              <a:lnSpc>
                <a:spcPct val="115000"/>
              </a:lnSpc>
              <a:spcBef>
                <a:spcPts val="0"/>
              </a:spcBef>
              <a:spcAft>
                <a:spcPts val="0"/>
              </a:spcAft>
              <a:buNone/>
            </a:pPr>
            <a:r>
              <a:t/>
            </a:r>
            <a:endParaRPr sz="600">
              <a:solidFill>
                <a:schemeClr val="lt1"/>
              </a:solidFill>
            </a:endParaRPr>
          </a:p>
          <a:p>
            <a:pPr indent="0" lvl="0" marL="0" rtl="0" algn="l">
              <a:lnSpc>
                <a:spcPct val="115000"/>
              </a:lnSpc>
              <a:spcBef>
                <a:spcPts val="0"/>
              </a:spcBef>
              <a:spcAft>
                <a:spcPts val="0"/>
              </a:spcAft>
              <a:buNone/>
            </a:pPr>
            <a:r>
              <a:rPr lang="fr" sz="600">
                <a:solidFill>
                  <a:schemeClr val="lt1"/>
                </a:solidFill>
              </a:rPr>
              <a:t>Rendre le fichier exécutable :</a:t>
            </a:r>
            <a:endParaRPr sz="600">
              <a:solidFill>
                <a:schemeClr val="lt1"/>
              </a:solidFill>
            </a:endParaRPr>
          </a:p>
          <a:p>
            <a:pPr indent="0" lvl="0" marL="0" rtl="0" algn="l">
              <a:lnSpc>
                <a:spcPct val="115000"/>
              </a:lnSpc>
              <a:spcBef>
                <a:spcPts val="0"/>
              </a:spcBef>
              <a:spcAft>
                <a:spcPts val="0"/>
              </a:spcAft>
              <a:buNone/>
            </a:pPr>
            <a:r>
              <a:rPr lang="fr" sz="600">
                <a:solidFill>
                  <a:srgbClr val="188038"/>
                </a:solidFill>
              </a:rPr>
              <a:t>chmod +x /usr/bin/.hidden/fake_rootkit</a:t>
            </a:r>
            <a:endParaRPr sz="600">
              <a:solidFill>
                <a:srgbClr val="188038"/>
              </a:solidFill>
            </a:endParaRPr>
          </a:p>
          <a:p>
            <a:pPr indent="0" lvl="0" marL="0" rtl="0" algn="l">
              <a:lnSpc>
                <a:spcPct val="115000"/>
              </a:lnSpc>
              <a:spcBef>
                <a:spcPts val="0"/>
              </a:spcBef>
              <a:spcAft>
                <a:spcPts val="0"/>
              </a:spcAft>
              <a:buNone/>
            </a:pPr>
            <a:r>
              <a:t/>
            </a:r>
            <a:endParaRPr sz="600">
              <a:solidFill>
                <a:schemeClr val="lt1"/>
              </a:solidFill>
            </a:endParaRPr>
          </a:p>
          <a:p>
            <a:pPr indent="0" lvl="0" marL="0" rtl="0" algn="l">
              <a:lnSpc>
                <a:spcPct val="115000"/>
              </a:lnSpc>
              <a:spcBef>
                <a:spcPts val="0"/>
              </a:spcBef>
              <a:spcAft>
                <a:spcPts val="0"/>
              </a:spcAft>
              <a:buNone/>
            </a:pPr>
            <a:r>
              <a:rPr lang="fr" sz="600">
                <a:solidFill>
                  <a:schemeClr val="lt1"/>
                </a:solidFill>
              </a:rPr>
              <a:t>Sur le serveur OSSEC, rechercher les alertes :</a:t>
            </a:r>
            <a:endParaRPr sz="600">
              <a:solidFill>
                <a:schemeClr val="lt1"/>
              </a:solidFill>
            </a:endParaRPr>
          </a:p>
          <a:p>
            <a:pPr indent="0" lvl="0" marL="0" rtl="0" algn="l">
              <a:lnSpc>
                <a:spcPct val="115000"/>
              </a:lnSpc>
              <a:spcBef>
                <a:spcPts val="0"/>
              </a:spcBef>
              <a:spcAft>
                <a:spcPts val="0"/>
              </a:spcAft>
              <a:buNone/>
            </a:pPr>
            <a:r>
              <a:rPr lang="fr" sz="600">
                <a:solidFill>
                  <a:srgbClr val="188038"/>
                </a:solidFill>
              </a:rPr>
              <a:t>grep -i "fake_rootkit" /var/ossec/logs/alerts/alerts.log</a:t>
            </a:r>
            <a:endParaRPr sz="600">
              <a:solidFill>
                <a:srgbClr val="188038"/>
              </a:solidFill>
            </a:endParaRPr>
          </a:p>
          <a:p>
            <a:pPr indent="0" lvl="0" marL="0" rtl="0" algn="l">
              <a:lnSpc>
                <a:spcPct val="115000"/>
              </a:lnSpc>
              <a:spcBef>
                <a:spcPts val="0"/>
              </a:spcBef>
              <a:spcAft>
                <a:spcPts val="0"/>
              </a:spcAft>
              <a:buNone/>
            </a:pPr>
            <a:r>
              <a:t/>
            </a:r>
            <a:endParaRPr sz="600">
              <a:solidFill>
                <a:schemeClr val="lt1"/>
              </a:solidFill>
            </a:endParaRPr>
          </a:p>
          <a:p>
            <a:pPr indent="0" lvl="0" marL="0" rtl="0" algn="l">
              <a:lnSpc>
                <a:spcPct val="115000"/>
              </a:lnSpc>
              <a:spcBef>
                <a:spcPts val="0"/>
              </a:spcBef>
              <a:spcAft>
                <a:spcPts val="0"/>
              </a:spcAft>
              <a:buNone/>
            </a:pPr>
            <a:r>
              <a:rPr lang="fr" sz="600">
                <a:solidFill>
                  <a:schemeClr val="lt1"/>
                </a:solidFill>
              </a:rPr>
              <a:t>Ou :</a:t>
            </a:r>
            <a:endParaRPr sz="600">
              <a:solidFill>
                <a:schemeClr val="lt1"/>
              </a:solidFill>
            </a:endParaRPr>
          </a:p>
          <a:p>
            <a:pPr indent="0" lvl="0" marL="0" rtl="0" algn="l">
              <a:lnSpc>
                <a:spcPct val="115000"/>
              </a:lnSpc>
              <a:spcBef>
                <a:spcPts val="0"/>
              </a:spcBef>
              <a:spcAft>
                <a:spcPts val="0"/>
              </a:spcAft>
              <a:buNone/>
            </a:pPr>
            <a:r>
              <a:rPr lang="fr" sz="600">
                <a:solidFill>
                  <a:srgbClr val="188038"/>
                </a:solidFill>
              </a:rPr>
              <a:t>grep -i ".hidden" /var/ossec/logs/alerts/alerts.log</a:t>
            </a:r>
            <a:endParaRPr sz="600">
              <a:solidFill>
                <a:srgbClr val="188038"/>
              </a:solidFill>
            </a:endParaRPr>
          </a:p>
          <a:p>
            <a:pPr indent="0" lvl="0" marL="0" rtl="0" algn="l">
              <a:lnSpc>
                <a:spcPct val="115000"/>
              </a:lnSpc>
              <a:spcBef>
                <a:spcPts val="0"/>
              </a:spcBef>
              <a:spcAft>
                <a:spcPts val="0"/>
              </a:spcAft>
              <a:buNone/>
            </a:pPr>
            <a:r>
              <a:t/>
            </a:r>
            <a:endParaRPr sz="600">
              <a:solidFill>
                <a:schemeClr val="lt1"/>
              </a:solidFill>
            </a:endParaRPr>
          </a:p>
          <a:p>
            <a:pPr indent="0" lvl="0" marL="0" rtl="0" algn="l">
              <a:lnSpc>
                <a:spcPct val="115000"/>
              </a:lnSpc>
              <a:spcBef>
                <a:spcPts val="0"/>
              </a:spcBef>
              <a:spcAft>
                <a:spcPts val="0"/>
              </a:spcAft>
              <a:buNone/>
            </a:pPr>
            <a:r>
              <a:rPr lang="fr" sz="600">
                <a:solidFill>
                  <a:schemeClr val="lt1"/>
                </a:solidFill>
              </a:rPr>
              <a:t>Il est aussi possible d’afficher les dernières alertes Syscheck :</a:t>
            </a:r>
            <a:endParaRPr sz="600">
              <a:solidFill>
                <a:schemeClr val="lt1"/>
              </a:solidFill>
            </a:endParaRPr>
          </a:p>
          <a:p>
            <a:pPr indent="0" lvl="0" marL="0" rtl="0" algn="l">
              <a:lnSpc>
                <a:spcPct val="115000"/>
              </a:lnSpc>
              <a:spcBef>
                <a:spcPts val="0"/>
              </a:spcBef>
              <a:spcAft>
                <a:spcPts val="0"/>
              </a:spcAft>
              <a:buNone/>
            </a:pPr>
            <a:r>
              <a:rPr lang="fr" sz="600">
                <a:solidFill>
                  <a:srgbClr val="188038"/>
                </a:solidFill>
              </a:rPr>
              <a:t>grep -i "syscheck" /var/ossec/logs/alerts/alerts.log | tail -n 50</a:t>
            </a:r>
            <a:endParaRPr sz="600">
              <a:solidFill>
                <a:srgbClr val="188038"/>
              </a:solidFill>
            </a:endParaRPr>
          </a:p>
          <a:p>
            <a:pPr indent="0" lvl="0" marL="0" rtl="0" algn="l">
              <a:lnSpc>
                <a:spcPct val="115000"/>
              </a:lnSpc>
              <a:spcBef>
                <a:spcPts val="0"/>
              </a:spcBef>
              <a:spcAft>
                <a:spcPts val="0"/>
              </a:spcAft>
              <a:buNone/>
            </a:pPr>
            <a:r>
              <a:t/>
            </a:r>
            <a:endParaRPr sz="600">
              <a:solidFill>
                <a:schemeClr val="lt1"/>
              </a:solidFill>
            </a:endParaRPr>
          </a:p>
          <a:p>
            <a:pPr indent="0" lvl="0" marL="0" rtl="0" algn="l">
              <a:lnSpc>
                <a:spcPct val="115000"/>
              </a:lnSpc>
              <a:spcBef>
                <a:spcPts val="0"/>
              </a:spcBef>
              <a:spcAft>
                <a:spcPts val="0"/>
              </a:spcAft>
              <a:buNone/>
            </a:pPr>
            <a:r>
              <a:rPr lang="fr" sz="600">
                <a:solidFill>
                  <a:schemeClr val="lt1"/>
                </a:solidFill>
              </a:rPr>
              <a:t>Résultats attendus :</a:t>
            </a:r>
            <a:endParaRPr sz="600">
              <a:solidFill>
                <a:schemeClr val="lt1"/>
              </a:solidFill>
            </a:endParaRPr>
          </a:p>
          <a:p>
            <a:pPr indent="0" lvl="0" marL="0" rtl="0" algn="l">
              <a:lnSpc>
                <a:spcPct val="115000"/>
              </a:lnSpc>
              <a:spcBef>
                <a:spcPts val="0"/>
              </a:spcBef>
              <a:spcAft>
                <a:spcPts val="0"/>
              </a:spcAft>
              <a:buNone/>
            </a:pPr>
            <a:r>
              <a:rPr lang="fr" sz="600">
                <a:solidFill>
                  <a:srgbClr val="188038"/>
                </a:solidFill>
              </a:rPr>
              <a:t>File added to the system.</a:t>
            </a:r>
            <a:endParaRPr sz="600">
              <a:solidFill>
                <a:srgbClr val="188038"/>
              </a:solidFill>
            </a:endParaRPr>
          </a:p>
          <a:p>
            <a:pPr indent="0" lvl="0" marL="0" rtl="0" algn="l">
              <a:lnSpc>
                <a:spcPct val="115000"/>
              </a:lnSpc>
              <a:spcBef>
                <a:spcPts val="0"/>
              </a:spcBef>
              <a:spcAft>
                <a:spcPts val="0"/>
              </a:spcAft>
              <a:buNone/>
            </a:pPr>
            <a:r>
              <a:rPr lang="fr" sz="600">
                <a:solidFill>
                  <a:schemeClr val="lt1"/>
                </a:solidFill>
              </a:rPr>
              <a:t>New file '/usr/bin/.hidden/fake_rootkit' added to the file system.</a:t>
            </a:r>
            <a:endParaRPr sz="600">
              <a:solidFill>
                <a:schemeClr val="lt1"/>
              </a:solidFill>
            </a:endParaRPr>
          </a:p>
          <a:p>
            <a:pPr indent="0" lvl="0" marL="0" rtl="0" algn="l">
              <a:lnSpc>
                <a:spcPct val="115000"/>
              </a:lnSpc>
              <a:spcBef>
                <a:spcPts val="0"/>
              </a:spcBef>
              <a:spcAft>
                <a:spcPts val="0"/>
              </a:spcAft>
              <a:buNone/>
            </a:pPr>
            <a:r>
              <a:t/>
            </a:r>
            <a:endParaRPr sz="600">
              <a:solidFill>
                <a:schemeClr val="lt1"/>
              </a:solidFill>
            </a:endParaRPr>
          </a:p>
          <a:p>
            <a:pPr indent="0" lvl="0" marL="0" rtl="0" algn="l">
              <a:lnSpc>
                <a:spcPct val="115000"/>
              </a:lnSpc>
              <a:spcBef>
                <a:spcPts val="0"/>
              </a:spcBef>
              <a:spcAft>
                <a:spcPts val="0"/>
              </a:spcAft>
              <a:buNone/>
            </a:pPr>
            <a:r>
              <a:t/>
            </a:r>
            <a:endParaRPr sz="600">
              <a:solidFill>
                <a:schemeClr val="lt1"/>
              </a:solidFill>
            </a:endParaRPr>
          </a:p>
        </p:txBody>
      </p:sp>
      <p:pic>
        <p:nvPicPr>
          <p:cNvPr id="298" name="Google Shape;298;p32"/>
          <p:cNvPicPr preferRelativeResize="0"/>
          <p:nvPr/>
        </p:nvPicPr>
        <p:blipFill>
          <a:blip r:embed="rId3">
            <a:alphaModFix/>
          </a:blip>
          <a:stretch>
            <a:fillRect/>
          </a:stretch>
        </p:blipFill>
        <p:spPr>
          <a:xfrm>
            <a:off x="269075" y="3954125"/>
            <a:ext cx="3203125" cy="1045100"/>
          </a:xfrm>
          <a:prstGeom prst="rect">
            <a:avLst/>
          </a:prstGeom>
          <a:noFill/>
          <a:ln>
            <a:noFill/>
          </a:ln>
        </p:spPr>
      </p:pic>
      <p:sp>
        <p:nvSpPr>
          <p:cNvPr id="299" name="Google Shape;299;p32"/>
          <p:cNvSpPr txBox="1"/>
          <p:nvPr/>
        </p:nvSpPr>
        <p:spPr>
          <a:xfrm>
            <a:off x="4809750" y="813775"/>
            <a:ext cx="3883800" cy="159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fr" sz="900">
                <a:solidFill>
                  <a:schemeClr val="lt1"/>
                </a:solidFill>
              </a:rPr>
              <a:t>Interprétation :</a:t>
            </a:r>
            <a:endParaRPr b="1" sz="900">
              <a:solidFill>
                <a:schemeClr val="lt1"/>
              </a:solidFill>
            </a:endParaRPr>
          </a:p>
          <a:p>
            <a:pPr indent="0" lvl="0" marL="0" rtl="0" algn="l">
              <a:lnSpc>
                <a:spcPct val="115000"/>
              </a:lnSpc>
              <a:spcBef>
                <a:spcPts val="0"/>
              </a:spcBef>
              <a:spcAft>
                <a:spcPts val="0"/>
              </a:spcAft>
              <a:buNone/>
            </a:pPr>
            <a:r>
              <a:rPr lang="fr" sz="900">
                <a:solidFill>
                  <a:schemeClr val="lt1"/>
                </a:solidFill>
              </a:rPr>
              <a:t>OSSEC détecte l’ajout d’un fichier dans un répertoire système surveillé. Le fait de placer ce fichier dans un répertoire caché sous /usr/bin permet de simuler une technique de dissimulation souvent associée à des comportements malveillants. Il ne s’agit pas d’un vrai rootkit, mais d’une simulation contrôlée et sans danger.</a:t>
            </a:r>
            <a:endParaRPr sz="900">
              <a:solidFill>
                <a:schemeClr val="lt1"/>
              </a:solidFill>
            </a:endParaRPr>
          </a:p>
          <a:p>
            <a:pPr indent="0" lvl="0" marL="0" rtl="0" algn="l">
              <a:lnSpc>
                <a:spcPct val="115000"/>
              </a:lnSpc>
              <a:spcBef>
                <a:spcPts val="0"/>
              </a:spcBef>
              <a:spcAft>
                <a:spcPts val="0"/>
              </a:spcAft>
              <a:buNone/>
            </a:pPr>
            <a:r>
              <a:t/>
            </a:r>
            <a:endParaRPr sz="900">
              <a:solidFill>
                <a:schemeClr val="lt1"/>
              </a:solidFill>
            </a:endParaRPr>
          </a:p>
          <a:p>
            <a:pPr indent="0" lvl="0" marL="0" rtl="0" algn="l">
              <a:lnSpc>
                <a:spcPct val="115000"/>
              </a:lnSpc>
              <a:spcBef>
                <a:spcPts val="0"/>
              </a:spcBef>
              <a:spcAft>
                <a:spcPts val="0"/>
              </a:spcAft>
              <a:buNone/>
            </a:pPr>
            <a:r>
              <a:rPr lang="fr" sz="900">
                <a:solidFill>
                  <a:schemeClr val="lt1"/>
                </a:solidFill>
              </a:rPr>
              <a:t>Nettoyage après le test </a:t>
            </a:r>
            <a:r>
              <a:rPr lang="fr" sz="900"/>
              <a:t>:</a:t>
            </a:r>
            <a:endParaRPr sz="900"/>
          </a:p>
          <a:p>
            <a:pPr indent="0" lvl="0" marL="0" rtl="0" algn="l">
              <a:lnSpc>
                <a:spcPct val="115000"/>
              </a:lnSpc>
              <a:spcBef>
                <a:spcPts val="0"/>
              </a:spcBef>
              <a:spcAft>
                <a:spcPts val="0"/>
              </a:spcAft>
              <a:buNone/>
            </a:pPr>
            <a:r>
              <a:rPr lang="fr" sz="900">
                <a:solidFill>
                  <a:srgbClr val="188038"/>
                </a:solidFill>
              </a:rPr>
              <a:t>rm -rf /usr/bin/.hidden</a:t>
            </a:r>
            <a:endParaRPr sz="900">
              <a:solidFill>
                <a:srgbClr val="188038"/>
              </a:solidFill>
            </a:endParaRPr>
          </a:p>
        </p:txBody>
      </p:sp>
      <p:sp>
        <p:nvSpPr>
          <p:cNvPr id="300" name="Google Shape;300;p32"/>
          <p:cNvSpPr txBox="1"/>
          <p:nvPr/>
        </p:nvSpPr>
        <p:spPr>
          <a:xfrm>
            <a:off x="4809750" y="2499100"/>
            <a:ext cx="4577400" cy="257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800">
                <a:solidFill>
                  <a:schemeClr val="lt1"/>
                </a:solidFill>
              </a:rPr>
              <a:t>Vérifier que l’agent client est actif :</a:t>
            </a:r>
            <a:endParaRPr sz="800">
              <a:solidFill>
                <a:schemeClr val="lt1"/>
              </a:solidFill>
            </a:endParaRPr>
          </a:p>
          <a:p>
            <a:pPr indent="0" lvl="0" marL="0" rtl="0" algn="l">
              <a:lnSpc>
                <a:spcPct val="115000"/>
              </a:lnSpc>
              <a:spcBef>
                <a:spcPts val="0"/>
              </a:spcBef>
              <a:spcAft>
                <a:spcPts val="0"/>
              </a:spcAft>
              <a:buNone/>
            </a:pPr>
            <a:r>
              <a:rPr lang="fr" sz="800">
                <a:solidFill>
                  <a:srgbClr val="188038"/>
                </a:solidFill>
              </a:rPr>
              <a:t>/var/ossec/bin/agent_control -l</a:t>
            </a:r>
            <a:endParaRPr sz="800">
              <a:solidFill>
                <a:srgbClr val="188038"/>
              </a:solidFill>
            </a:endParaRPr>
          </a:p>
          <a:p>
            <a:pPr indent="0" lvl="0" marL="0" rtl="0" algn="l">
              <a:lnSpc>
                <a:spcPct val="115000"/>
              </a:lnSpc>
              <a:spcBef>
                <a:spcPts val="0"/>
              </a:spcBef>
              <a:spcAft>
                <a:spcPts val="0"/>
              </a:spcAft>
              <a:buNone/>
            </a:pPr>
            <a:r>
              <a:t/>
            </a:r>
            <a:endParaRPr sz="800">
              <a:solidFill>
                <a:srgbClr val="188038"/>
              </a:solidFill>
            </a:endParaRPr>
          </a:p>
          <a:p>
            <a:pPr indent="0" lvl="0" marL="0" rtl="0" algn="l">
              <a:lnSpc>
                <a:spcPct val="115000"/>
              </a:lnSpc>
              <a:spcBef>
                <a:spcPts val="0"/>
              </a:spcBef>
              <a:spcAft>
                <a:spcPts val="0"/>
              </a:spcAft>
              <a:buNone/>
            </a:pPr>
            <a:r>
              <a:rPr lang="fr" sz="800">
                <a:solidFill>
                  <a:schemeClr val="lt1"/>
                </a:solidFill>
              </a:rPr>
              <a:t>Résultat attendu :</a:t>
            </a:r>
            <a:endParaRPr sz="800">
              <a:solidFill>
                <a:schemeClr val="lt1"/>
              </a:solidFill>
            </a:endParaRPr>
          </a:p>
          <a:p>
            <a:pPr indent="0" lvl="0" marL="0" rtl="0" algn="l">
              <a:lnSpc>
                <a:spcPct val="115000"/>
              </a:lnSpc>
              <a:spcBef>
                <a:spcPts val="0"/>
              </a:spcBef>
              <a:spcAft>
                <a:spcPts val="0"/>
              </a:spcAft>
              <a:buNone/>
            </a:pPr>
            <a:r>
              <a:rPr lang="fr" sz="800">
                <a:solidFill>
                  <a:srgbClr val="188038"/>
                </a:solidFill>
              </a:rPr>
              <a:t>ID: 002, Name: client_agent, IP: 192.168.30.101, Active</a:t>
            </a:r>
            <a:endParaRPr sz="800">
              <a:solidFill>
                <a:srgbClr val="188038"/>
              </a:solidFill>
            </a:endParaRPr>
          </a:p>
          <a:p>
            <a:pPr indent="0" lvl="0" marL="0" rtl="0" algn="l">
              <a:lnSpc>
                <a:spcPct val="115000"/>
              </a:lnSpc>
              <a:spcBef>
                <a:spcPts val="0"/>
              </a:spcBef>
              <a:spcAft>
                <a:spcPts val="0"/>
              </a:spcAft>
              <a:buNone/>
            </a:pPr>
            <a:r>
              <a:t/>
            </a:r>
            <a:endParaRPr sz="800">
              <a:solidFill>
                <a:schemeClr val="lt1"/>
              </a:solidFill>
            </a:endParaRPr>
          </a:p>
          <a:p>
            <a:pPr indent="0" lvl="0" marL="0" rtl="0" algn="l">
              <a:lnSpc>
                <a:spcPct val="115000"/>
              </a:lnSpc>
              <a:spcBef>
                <a:spcPts val="0"/>
              </a:spcBef>
              <a:spcAft>
                <a:spcPts val="0"/>
              </a:spcAft>
              <a:buNone/>
            </a:pPr>
            <a:r>
              <a:rPr lang="fr" sz="800">
                <a:solidFill>
                  <a:schemeClr val="lt1"/>
                </a:solidFill>
              </a:rPr>
              <a:t>Forcer un scan Syscheck sur l’agent client :</a:t>
            </a:r>
            <a:endParaRPr sz="800">
              <a:solidFill>
                <a:schemeClr val="lt1"/>
              </a:solidFill>
            </a:endParaRPr>
          </a:p>
          <a:p>
            <a:pPr indent="0" lvl="0" marL="0" rtl="0" algn="l">
              <a:lnSpc>
                <a:spcPct val="115000"/>
              </a:lnSpc>
              <a:spcBef>
                <a:spcPts val="0"/>
              </a:spcBef>
              <a:spcAft>
                <a:spcPts val="0"/>
              </a:spcAft>
              <a:buNone/>
            </a:pPr>
            <a:r>
              <a:rPr lang="fr" sz="800">
                <a:solidFill>
                  <a:srgbClr val="188038"/>
                </a:solidFill>
              </a:rPr>
              <a:t>/var/ossec/bin/syscheck_control -u 002</a:t>
            </a:r>
            <a:endParaRPr sz="800">
              <a:solidFill>
                <a:srgbClr val="188038"/>
              </a:solidFill>
            </a:endParaRPr>
          </a:p>
          <a:p>
            <a:pPr indent="0" lvl="0" marL="0" rtl="0" algn="l">
              <a:lnSpc>
                <a:spcPct val="115000"/>
              </a:lnSpc>
              <a:spcBef>
                <a:spcPts val="0"/>
              </a:spcBef>
              <a:spcAft>
                <a:spcPts val="0"/>
              </a:spcAft>
              <a:buNone/>
            </a:pPr>
            <a:r>
              <a:t/>
            </a:r>
            <a:endParaRPr sz="800">
              <a:solidFill>
                <a:srgbClr val="188038"/>
              </a:solidFill>
            </a:endParaRPr>
          </a:p>
          <a:p>
            <a:pPr indent="0" lvl="0" marL="0" rtl="0" algn="l">
              <a:lnSpc>
                <a:spcPct val="115000"/>
              </a:lnSpc>
              <a:spcBef>
                <a:spcPts val="0"/>
              </a:spcBef>
              <a:spcAft>
                <a:spcPts val="0"/>
              </a:spcAft>
              <a:buNone/>
            </a:pPr>
            <a:r>
              <a:rPr lang="fr" sz="800">
                <a:solidFill>
                  <a:schemeClr val="lt1"/>
                </a:solidFill>
              </a:rPr>
              <a:t>Lire les alertes en temps réel :</a:t>
            </a:r>
            <a:endParaRPr sz="800">
              <a:solidFill>
                <a:schemeClr val="lt1"/>
              </a:solidFill>
            </a:endParaRPr>
          </a:p>
          <a:p>
            <a:pPr indent="0" lvl="0" marL="0" rtl="0" algn="l">
              <a:lnSpc>
                <a:spcPct val="115000"/>
              </a:lnSpc>
              <a:spcBef>
                <a:spcPts val="0"/>
              </a:spcBef>
              <a:spcAft>
                <a:spcPts val="0"/>
              </a:spcAft>
              <a:buNone/>
            </a:pPr>
            <a:r>
              <a:rPr lang="fr" sz="800">
                <a:solidFill>
                  <a:srgbClr val="188038"/>
                </a:solidFill>
              </a:rPr>
              <a:t>tail -f /var/ossec/logs/alerts/alerts.log</a:t>
            </a:r>
            <a:endParaRPr sz="800">
              <a:solidFill>
                <a:srgbClr val="188038"/>
              </a:solidFill>
            </a:endParaRPr>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fr" sz="800">
                <a:solidFill>
                  <a:schemeClr val="lt1"/>
                </a:solidFill>
              </a:rPr>
              <a:t>Filtrer les alertes de la VM cliente :</a:t>
            </a:r>
            <a:endParaRPr sz="800">
              <a:solidFill>
                <a:schemeClr val="lt1"/>
              </a:solidFill>
            </a:endParaRPr>
          </a:p>
          <a:p>
            <a:pPr indent="0" lvl="0" marL="0" rtl="0" algn="l">
              <a:lnSpc>
                <a:spcPct val="115000"/>
              </a:lnSpc>
              <a:spcBef>
                <a:spcPts val="0"/>
              </a:spcBef>
              <a:spcAft>
                <a:spcPts val="0"/>
              </a:spcAft>
              <a:buNone/>
            </a:pPr>
            <a:r>
              <a:rPr lang="fr" sz="800">
                <a:solidFill>
                  <a:srgbClr val="188038"/>
                </a:solidFill>
              </a:rPr>
              <a:t>grep -i "192.168.30.101" /var/ossec/logs/alerts/alerts.log | tail -n 50</a:t>
            </a:r>
            <a:endParaRPr sz="800">
              <a:solidFill>
                <a:srgbClr val="188038"/>
              </a:solidFill>
            </a:endParaRPr>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fr" sz="800">
                <a:solidFill>
                  <a:schemeClr val="lt1"/>
                </a:solidFill>
              </a:rPr>
              <a:t>Filtrer les alertes par nom d’agent :</a:t>
            </a:r>
            <a:endParaRPr sz="800">
              <a:solidFill>
                <a:schemeClr val="lt1"/>
              </a:solidFill>
            </a:endParaRPr>
          </a:p>
          <a:p>
            <a:pPr indent="0" lvl="0" marL="0" rtl="0" algn="l">
              <a:lnSpc>
                <a:spcPct val="115000"/>
              </a:lnSpc>
              <a:spcBef>
                <a:spcPts val="0"/>
              </a:spcBef>
              <a:spcAft>
                <a:spcPts val="0"/>
              </a:spcAft>
              <a:buNone/>
            </a:pPr>
            <a:r>
              <a:rPr lang="fr" sz="800">
                <a:solidFill>
                  <a:srgbClr val="188038"/>
                </a:solidFill>
              </a:rPr>
              <a:t>grep -i "client_agent" /var/ossec/logs/alerts/alerts.log | tail -n 50</a:t>
            </a:r>
            <a:endParaRPr sz="800">
              <a:solidFill>
                <a:srgbClr val="188038"/>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3"/>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Pour Aller plus Loin</a:t>
            </a:r>
            <a:endParaRPr/>
          </a:p>
          <a:p>
            <a:pPr indent="0" lvl="0" marL="0" rtl="0" algn="l">
              <a:spcBef>
                <a:spcPts val="0"/>
              </a:spcBef>
              <a:spcAft>
                <a:spcPts val="0"/>
              </a:spcAft>
              <a:buNone/>
            </a:pPr>
            <a:r>
              <a:t/>
            </a:r>
            <a:endParaRPr/>
          </a:p>
        </p:txBody>
      </p:sp>
      <p:pic>
        <p:nvPicPr>
          <p:cNvPr id="306" name="Google Shape;306;p33"/>
          <p:cNvPicPr preferRelativeResize="0"/>
          <p:nvPr/>
        </p:nvPicPr>
        <p:blipFill>
          <a:blip r:embed="rId3">
            <a:alphaModFix/>
          </a:blip>
          <a:stretch>
            <a:fillRect/>
          </a:stretch>
        </p:blipFill>
        <p:spPr>
          <a:xfrm>
            <a:off x="94050" y="1466850"/>
            <a:ext cx="4360200" cy="840175"/>
          </a:xfrm>
          <a:prstGeom prst="rect">
            <a:avLst/>
          </a:prstGeom>
          <a:noFill/>
          <a:ln>
            <a:noFill/>
          </a:ln>
        </p:spPr>
      </p:pic>
      <p:pic>
        <p:nvPicPr>
          <p:cNvPr id="307" name="Google Shape;307;p33"/>
          <p:cNvPicPr preferRelativeResize="0"/>
          <p:nvPr/>
        </p:nvPicPr>
        <p:blipFill>
          <a:blip r:embed="rId4">
            <a:alphaModFix/>
          </a:blip>
          <a:stretch>
            <a:fillRect/>
          </a:stretch>
        </p:blipFill>
        <p:spPr>
          <a:xfrm>
            <a:off x="94050" y="2424425"/>
            <a:ext cx="4360200" cy="1187829"/>
          </a:xfrm>
          <a:prstGeom prst="rect">
            <a:avLst/>
          </a:prstGeom>
          <a:noFill/>
          <a:ln>
            <a:noFill/>
          </a:ln>
        </p:spPr>
      </p:pic>
      <p:pic>
        <p:nvPicPr>
          <p:cNvPr id="308" name="Google Shape;308;p33"/>
          <p:cNvPicPr preferRelativeResize="0"/>
          <p:nvPr/>
        </p:nvPicPr>
        <p:blipFill>
          <a:blip r:embed="rId5">
            <a:alphaModFix/>
          </a:blip>
          <a:stretch>
            <a:fillRect/>
          </a:stretch>
        </p:blipFill>
        <p:spPr>
          <a:xfrm>
            <a:off x="94050" y="3801925"/>
            <a:ext cx="4360199" cy="337762"/>
          </a:xfrm>
          <a:prstGeom prst="rect">
            <a:avLst/>
          </a:prstGeom>
          <a:noFill/>
          <a:ln>
            <a:noFill/>
          </a:ln>
        </p:spPr>
      </p:pic>
      <p:pic>
        <p:nvPicPr>
          <p:cNvPr id="309" name="Google Shape;309;p33"/>
          <p:cNvPicPr preferRelativeResize="0"/>
          <p:nvPr/>
        </p:nvPicPr>
        <p:blipFill>
          <a:blip r:embed="rId6">
            <a:alphaModFix/>
          </a:blip>
          <a:stretch>
            <a:fillRect/>
          </a:stretch>
        </p:blipFill>
        <p:spPr>
          <a:xfrm>
            <a:off x="94050" y="4284900"/>
            <a:ext cx="3629025" cy="752475"/>
          </a:xfrm>
          <a:prstGeom prst="rect">
            <a:avLst/>
          </a:prstGeom>
          <a:noFill/>
          <a:ln>
            <a:noFill/>
          </a:ln>
        </p:spPr>
      </p:pic>
      <p:pic>
        <p:nvPicPr>
          <p:cNvPr id="310" name="Google Shape;310;p33"/>
          <p:cNvPicPr preferRelativeResize="0"/>
          <p:nvPr/>
        </p:nvPicPr>
        <p:blipFill>
          <a:blip r:embed="rId7">
            <a:alphaModFix/>
          </a:blip>
          <a:stretch>
            <a:fillRect/>
          </a:stretch>
        </p:blipFill>
        <p:spPr>
          <a:xfrm>
            <a:off x="4572000" y="1466850"/>
            <a:ext cx="4197824" cy="606650"/>
          </a:xfrm>
          <a:prstGeom prst="rect">
            <a:avLst/>
          </a:prstGeom>
          <a:noFill/>
          <a:ln>
            <a:noFill/>
          </a:ln>
        </p:spPr>
      </p:pic>
      <p:pic>
        <p:nvPicPr>
          <p:cNvPr id="311" name="Google Shape;311;p33"/>
          <p:cNvPicPr preferRelativeResize="0"/>
          <p:nvPr/>
        </p:nvPicPr>
        <p:blipFill>
          <a:blip r:embed="rId8">
            <a:alphaModFix/>
          </a:blip>
          <a:stretch>
            <a:fillRect/>
          </a:stretch>
        </p:blipFill>
        <p:spPr>
          <a:xfrm>
            <a:off x="4572000" y="2232500"/>
            <a:ext cx="2828325" cy="1848500"/>
          </a:xfrm>
          <a:prstGeom prst="rect">
            <a:avLst/>
          </a:prstGeom>
          <a:noFill/>
          <a:ln>
            <a:noFill/>
          </a:ln>
        </p:spPr>
      </p:pic>
      <p:pic>
        <p:nvPicPr>
          <p:cNvPr id="312" name="Google Shape;312;p33"/>
          <p:cNvPicPr preferRelativeResize="0"/>
          <p:nvPr/>
        </p:nvPicPr>
        <p:blipFill>
          <a:blip r:embed="rId9">
            <a:alphaModFix/>
          </a:blip>
          <a:stretch>
            <a:fillRect/>
          </a:stretch>
        </p:blipFill>
        <p:spPr>
          <a:xfrm>
            <a:off x="4571997" y="4284900"/>
            <a:ext cx="4344694" cy="337750"/>
          </a:xfrm>
          <a:prstGeom prst="rect">
            <a:avLst/>
          </a:prstGeom>
          <a:noFill/>
          <a:ln>
            <a:noFill/>
          </a:ln>
        </p:spPr>
      </p:pic>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4"/>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Pour Aller plus Loin</a:t>
            </a:r>
            <a:endParaRPr/>
          </a:p>
          <a:p>
            <a:pPr indent="0" lvl="0" marL="0" rtl="0" algn="l">
              <a:spcBef>
                <a:spcPts val="0"/>
              </a:spcBef>
              <a:spcAft>
                <a:spcPts val="0"/>
              </a:spcAft>
              <a:buNone/>
            </a:pPr>
            <a:r>
              <a:t/>
            </a:r>
            <a:endParaRPr/>
          </a:p>
        </p:txBody>
      </p:sp>
      <p:sp>
        <p:nvSpPr>
          <p:cNvPr id="318" name="Google Shape;318;p34"/>
          <p:cNvSpPr txBox="1"/>
          <p:nvPr/>
        </p:nvSpPr>
        <p:spPr>
          <a:xfrm>
            <a:off x="126375" y="1536250"/>
            <a:ext cx="4989000" cy="314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800">
                <a:solidFill>
                  <a:schemeClr val="lt1"/>
                </a:solidFill>
              </a:rPr>
              <a:t>1- Créer le dossier pour la clé de sécurité :</a:t>
            </a:r>
            <a:endParaRPr sz="800">
              <a:solidFill>
                <a:schemeClr val="lt1"/>
              </a:solidFill>
            </a:endParaRPr>
          </a:p>
          <a:p>
            <a:pPr indent="0" lvl="0" marL="0" rtl="0" algn="l">
              <a:lnSpc>
                <a:spcPct val="115000"/>
              </a:lnSpc>
              <a:spcBef>
                <a:spcPts val="0"/>
              </a:spcBef>
              <a:spcAft>
                <a:spcPts val="0"/>
              </a:spcAft>
              <a:buNone/>
            </a:pPr>
            <a:r>
              <a:t/>
            </a:r>
            <a:endParaRPr sz="800">
              <a:solidFill>
                <a:srgbClr val="38761D"/>
              </a:solidFill>
            </a:endParaRPr>
          </a:p>
          <a:p>
            <a:pPr indent="0" lvl="0" marL="0" rtl="0" algn="l">
              <a:lnSpc>
                <a:spcPct val="115000"/>
              </a:lnSpc>
              <a:spcBef>
                <a:spcPts val="0"/>
              </a:spcBef>
              <a:spcAft>
                <a:spcPts val="0"/>
              </a:spcAft>
              <a:buNone/>
            </a:pPr>
            <a:r>
              <a:rPr lang="fr" sz="800">
                <a:solidFill>
                  <a:srgbClr val="38761D"/>
                </a:solidFill>
              </a:rPr>
              <a:t>mkdir -p /etc/apt/keyrings/</a:t>
            </a:r>
            <a:endParaRPr sz="800">
              <a:solidFill>
                <a:srgbClr val="38761D"/>
              </a:solidFill>
            </a:endParaRPr>
          </a:p>
          <a:p>
            <a:pPr indent="0" lvl="0" marL="0" rtl="0" algn="l">
              <a:lnSpc>
                <a:spcPct val="115000"/>
              </a:lnSpc>
              <a:spcBef>
                <a:spcPts val="0"/>
              </a:spcBef>
              <a:spcAft>
                <a:spcPts val="0"/>
              </a:spcAft>
              <a:buNone/>
            </a:pPr>
            <a:br>
              <a:rPr lang="fr" sz="800">
                <a:solidFill>
                  <a:schemeClr val="lt1"/>
                </a:solidFill>
              </a:rPr>
            </a:br>
            <a:r>
              <a:rPr lang="fr" sz="800">
                <a:solidFill>
                  <a:schemeClr val="lt1"/>
                </a:solidFill>
              </a:rPr>
              <a:t>2-Téléchargez la clé GPG officielle de Grafana :</a:t>
            </a:r>
            <a:endParaRPr sz="800">
              <a:solidFill>
                <a:schemeClr val="lt1"/>
              </a:solidFill>
            </a:endParaRPr>
          </a:p>
          <a:p>
            <a:pPr indent="0" lvl="0" marL="0" marR="0" rtl="0" algn="l">
              <a:lnSpc>
                <a:spcPct val="115000"/>
              </a:lnSpc>
              <a:spcBef>
                <a:spcPts val="0"/>
              </a:spcBef>
              <a:spcAft>
                <a:spcPts val="0"/>
              </a:spcAft>
              <a:buNone/>
            </a:pPr>
            <a:r>
              <a:t/>
            </a:r>
            <a:endParaRPr sz="800">
              <a:solidFill>
                <a:srgbClr val="38761D"/>
              </a:solidFill>
            </a:endParaRPr>
          </a:p>
          <a:p>
            <a:pPr indent="0" lvl="0" marL="0" marR="0" rtl="0" algn="l">
              <a:lnSpc>
                <a:spcPct val="115000"/>
              </a:lnSpc>
              <a:spcBef>
                <a:spcPts val="0"/>
              </a:spcBef>
              <a:spcAft>
                <a:spcPts val="0"/>
              </a:spcAft>
              <a:buNone/>
            </a:pPr>
            <a:r>
              <a:rPr lang="fr" sz="800">
                <a:solidFill>
                  <a:srgbClr val="38761D"/>
                </a:solidFill>
              </a:rPr>
              <a:t>wget -q -O - https://apt.grafana.com/gpg.key | gpg --dearmor | tee /etc/apt/keyrings/grafana.gpg &gt; /dev/null</a:t>
            </a:r>
            <a:endParaRPr sz="800">
              <a:solidFill>
                <a:srgbClr val="38761D"/>
              </a:solidFill>
            </a:endParaRPr>
          </a:p>
          <a:p>
            <a:pPr indent="0" lvl="0" marL="0" marR="0" rtl="0" algn="l">
              <a:lnSpc>
                <a:spcPct val="115000"/>
              </a:lnSpc>
              <a:spcBef>
                <a:spcPts val="0"/>
              </a:spcBef>
              <a:spcAft>
                <a:spcPts val="0"/>
              </a:spcAft>
              <a:buNone/>
            </a:pPr>
            <a:r>
              <a:t/>
            </a:r>
            <a:endParaRPr sz="800"/>
          </a:p>
          <a:p>
            <a:pPr indent="0" lvl="0" marL="0" marR="0" rtl="0" algn="l">
              <a:lnSpc>
                <a:spcPct val="115000"/>
              </a:lnSpc>
              <a:spcBef>
                <a:spcPts val="0"/>
              </a:spcBef>
              <a:spcAft>
                <a:spcPts val="0"/>
              </a:spcAft>
              <a:buNone/>
            </a:pPr>
            <a:r>
              <a:rPr lang="fr" sz="800">
                <a:solidFill>
                  <a:schemeClr val="lt1"/>
                </a:solidFill>
              </a:rPr>
              <a:t>3-Ajoute le dépôt dans le </a:t>
            </a:r>
            <a:r>
              <a:rPr b="1" lang="fr" sz="800">
                <a:solidFill>
                  <a:schemeClr val="lt1"/>
                </a:solidFill>
              </a:rPr>
              <a:t>bon</a:t>
            </a:r>
            <a:r>
              <a:rPr lang="fr" sz="800">
                <a:solidFill>
                  <a:schemeClr val="lt1"/>
                </a:solidFill>
              </a:rPr>
              <a:t> dossier (</a:t>
            </a:r>
            <a:r>
              <a:rPr lang="fr" sz="800">
                <a:solidFill>
                  <a:srgbClr val="188038"/>
                </a:solidFill>
                <a:latin typeface="Roboto Mono"/>
                <a:ea typeface="Roboto Mono"/>
                <a:cs typeface="Roboto Mono"/>
                <a:sym typeface="Roboto Mono"/>
              </a:rPr>
              <a:t>sources.list.d</a:t>
            </a:r>
            <a:r>
              <a:rPr lang="fr" sz="800">
                <a:solidFill>
                  <a:schemeClr val="lt1"/>
                </a:solidFill>
              </a:rPr>
              <a:t>) :</a:t>
            </a:r>
            <a:endParaRPr sz="800">
              <a:solidFill>
                <a:schemeClr val="lt1"/>
              </a:solidFill>
            </a:endParaRPr>
          </a:p>
          <a:p>
            <a:pPr indent="0" lvl="0" marL="0" marR="0" rtl="0" algn="l">
              <a:lnSpc>
                <a:spcPct val="115000"/>
              </a:lnSpc>
              <a:spcBef>
                <a:spcPts val="0"/>
              </a:spcBef>
              <a:spcAft>
                <a:spcPts val="0"/>
              </a:spcAft>
              <a:buNone/>
            </a:pPr>
            <a:br>
              <a:rPr lang="fr" sz="800"/>
            </a:br>
            <a:r>
              <a:rPr lang="fr" sz="800">
                <a:solidFill>
                  <a:srgbClr val="38761D"/>
                </a:solidFill>
              </a:rPr>
              <a:t>echo "deb [signed-by=/etc/apt/keyrings/grafana.gpg] https://apt.grafana.com stable main" | tee /etc/apt/sources.list.d/grafana.list</a:t>
            </a:r>
            <a:endParaRPr sz="800">
              <a:solidFill>
                <a:srgbClr val="38761D"/>
              </a:solidFill>
            </a:endParaRPr>
          </a:p>
          <a:p>
            <a:pPr indent="0" lvl="0" marL="0" marR="0" rtl="0" algn="l">
              <a:lnSpc>
                <a:spcPct val="115000"/>
              </a:lnSpc>
              <a:spcBef>
                <a:spcPts val="0"/>
              </a:spcBef>
              <a:spcAft>
                <a:spcPts val="0"/>
              </a:spcAft>
              <a:buNone/>
            </a:pPr>
            <a:r>
              <a:t/>
            </a:r>
            <a:endParaRPr b="1" sz="800"/>
          </a:p>
          <a:p>
            <a:pPr indent="0" lvl="0" marL="0" marR="0" rtl="0" algn="l">
              <a:lnSpc>
                <a:spcPct val="115000"/>
              </a:lnSpc>
              <a:spcBef>
                <a:spcPts val="0"/>
              </a:spcBef>
              <a:spcAft>
                <a:spcPts val="0"/>
              </a:spcAft>
              <a:buNone/>
            </a:pPr>
            <a:r>
              <a:rPr lang="fr" sz="800">
                <a:solidFill>
                  <a:srgbClr val="38761D"/>
                </a:solidFill>
              </a:rPr>
              <a:t>apt update</a:t>
            </a:r>
            <a:br>
              <a:rPr lang="fr" sz="800">
                <a:solidFill>
                  <a:srgbClr val="38761D"/>
                </a:solidFill>
              </a:rPr>
            </a:br>
            <a:r>
              <a:rPr lang="fr" sz="800">
                <a:solidFill>
                  <a:srgbClr val="38761D"/>
                </a:solidFill>
              </a:rPr>
              <a:t>apt install grafana -y</a:t>
            </a:r>
            <a:br>
              <a:rPr lang="fr" sz="800">
                <a:solidFill>
                  <a:srgbClr val="38761D"/>
                </a:solidFill>
              </a:rPr>
            </a:br>
            <a:br>
              <a:rPr lang="fr" sz="800">
                <a:solidFill>
                  <a:srgbClr val="38761D"/>
                </a:solidFill>
              </a:rPr>
            </a:br>
            <a:r>
              <a:rPr lang="fr" sz="800">
                <a:solidFill>
                  <a:schemeClr val="lt1"/>
                </a:solidFill>
              </a:rPr>
              <a:t>Une fois l'installation finie, active et démarre le service </a:t>
            </a:r>
            <a:r>
              <a:rPr lang="fr" sz="800"/>
              <a:t>:</a:t>
            </a:r>
            <a:br>
              <a:rPr lang="fr" sz="800"/>
            </a:br>
            <a:r>
              <a:rPr lang="fr" sz="800">
                <a:solidFill>
                  <a:srgbClr val="38761D"/>
                </a:solidFill>
              </a:rPr>
              <a:t>systemctl daemon-reload </a:t>
            </a:r>
            <a:br>
              <a:rPr lang="fr" sz="800">
                <a:solidFill>
                  <a:srgbClr val="38761D"/>
                </a:solidFill>
              </a:rPr>
            </a:br>
            <a:r>
              <a:rPr lang="fr" sz="800">
                <a:solidFill>
                  <a:srgbClr val="38761D"/>
                </a:solidFill>
              </a:rPr>
              <a:t>systemctl enable grafana-server </a:t>
            </a:r>
            <a:br>
              <a:rPr lang="fr" sz="800">
                <a:solidFill>
                  <a:srgbClr val="38761D"/>
                </a:solidFill>
              </a:rPr>
            </a:br>
            <a:r>
              <a:rPr lang="fr" sz="800">
                <a:solidFill>
                  <a:srgbClr val="38761D"/>
                </a:solidFill>
              </a:rPr>
              <a:t>systemctl start grafana-server</a:t>
            </a:r>
            <a:br>
              <a:rPr lang="fr" sz="800">
                <a:solidFill>
                  <a:srgbClr val="38761D"/>
                </a:solidFill>
              </a:rPr>
            </a:br>
            <a:endParaRPr sz="800"/>
          </a:p>
        </p:txBody>
      </p:sp>
      <p:sp>
        <p:nvSpPr>
          <p:cNvPr id="319" name="Google Shape;319;p34"/>
          <p:cNvSpPr txBox="1"/>
          <p:nvPr/>
        </p:nvSpPr>
        <p:spPr>
          <a:xfrm>
            <a:off x="5115375" y="1536250"/>
            <a:ext cx="3149100" cy="2908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None/>
            </a:pPr>
            <a:r>
              <a:rPr b="1" lang="fr" sz="800">
                <a:solidFill>
                  <a:srgbClr val="38761D"/>
                </a:solidFill>
              </a:rPr>
              <a:t>cd /usr/local/src wget https://github.com/grafana/loki/releases/download/v3.0.0/loki-linux-amd64.zip wget https://github.com/grafana/loki/releases/download/v3.0.0/promtail-linux-amd64.zip </a:t>
            </a:r>
            <a:br>
              <a:rPr b="1" lang="fr" sz="800">
                <a:solidFill>
                  <a:srgbClr val="38761D"/>
                </a:solidFill>
              </a:rPr>
            </a:br>
            <a:br>
              <a:rPr b="1" lang="fr" sz="800">
                <a:solidFill>
                  <a:srgbClr val="38761D"/>
                </a:solidFill>
              </a:rPr>
            </a:br>
            <a:r>
              <a:rPr b="1" lang="fr" sz="800">
                <a:solidFill>
                  <a:schemeClr val="lt1"/>
                </a:solidFill>
              </a:rPr>
              <a:t>Installe </a:t>
            </a:r>
            <a:r>
              <a:rPr b="1" lang="fr" sz="800">
                <a:solidFill>
                  <a:schemeClr val="lt1"/>
                </a:solidFill>
                <a:latin typeface="Roboto Mono"/>
                <a:ea typeface="Roboto Mono"/>
                <a:cs typeface="Roboto Mono"/>
                <a:sym typeface="Roboto Mono"/>
              </a:rPr>
              <a:t>unzip</a:t>
            </a:r>
            <a:r>
              <a:rPr b="1" lang="fr" sz="800">
                <a:solidFill>
                  <a:schemeClr val="lt1"/>
                </a:solidFill>
              </a:rPr>
              <a:t> et extrait les outils dans le bon dossier système :</a:t>
            </a:r>
            <a:br>
              <a:rPr b="1" lang="fr" sz="800"/>
            </a:br>
            <a:endParaRPr b="1" sz="800"/>
          </a:p>
          <a:p>
            <a:pPr indent="0" lvl="0" marL="0" marR="0" rtl="0" algn="l">
              <a:lnSpc>
                <a:spcPct val="115000"/>
              </a:lnSpc>
              <a:spcBef>
                <a:spcPts val="400"/>
              </a:spcBef>
              <a:spcAft>
                <a:spcPts val="0"/>
              </a:spcAft>
              <a:buNone/>
            </a:pPr>
            <a:r>
              <a:rPr lang="fr" sz="800">
                <a:solidFill>
                  <a:srgbClr val="38761D"/>
                </a:solidFill>
              </a:rPr>
              <a:t>apt install unzip -y </a:t>
            </a:r>
            <a:endParaRPr sz="800">
              <a:solidFill>
                <a:srgbClr val="38761D"/>
              </a:solidFill>
            </a:endParaRPr>
          </a:p>
          <a:p>
            <a:pPr indent="0" lvl="0" marL="0" marR="0" rtl="0" algn="l">
              <a:lnSpc>
                <a:spcPct val="115000"/>
              </a:lnSpc>
              <a:spcBef>
                <a:spcPts val="0"/>
              </a:spcBef>
              <a:spcAft>
                <a:spcPts val="0"/>
              </a:spcAft>
              <a:buNone/>
            </a:pPr>
            <a:br>
              <a:rPr lang="fr" sz="800">
                <a:solidFill>
                  <a:srgbClr val="38761D"/>
                </a:solidFill>
              </a:rPr>
            </a:br>
            <a:r>
              <a:rPr lang="fr" sz="800">
                <a:solidFill>
                  <a:srgbClr val="38761D"/>
                </a:solidFill>
              </a:rPr>
              <a:t>unzip -o loki-linux-amd64.zip -d /usr/local/bin/</a:t>
            </a:r>
            <a:endParaRPr sz="800">
              <a:solidFill>
                <a:srgbClr val="38761D"/>
              </a:solidFill>
            </a:endParaRPr>
          </a:p>
          <a:p>
            <a:pPr indent="0" lvl="0" marL="0" marR="0" rtl="0" algn="l">
              <a:lnSpc>
                <a:spcPct val="115000"/>
              </a:lnSpc>
              <a:spcBef>
                <a:spcPts val="0"/>
              </a:spcBef>
              <a:spcAft>
                <a:spcPts val="0"/>
              </a:spcAft>
              <a:buNone/>
            </a:pPr>
            <a:br>
              <a:rPr lang="fr" sz="800">
                <a:solidFill>
                  <a:srgbClr val="38761D"/>
                </a:solidFill>
              </a:rPr>
            </a:br>
            <a:r>
              <a:rPr lang="fr" sz="800">
                <a:solidFill>
                  <a:srgbClr val="38761D"/>
                </a:solidFill>
              </a:rPr>
              <a:t>unzip -o promtail-linux-amd64.zip -d /usr/local/bin/</a:t>
            </a:r>
            <a:endParaRPr sz="800">
              <a:solidFill>
                <a:srgbClr val="38761D"/>
              </a:solidFill>
            </a:endParaRPr>
          </a:p>
          <a:p>
            <a:pPr indent="0" lvl="0" marL="0" marR="0" rtl="0" algn="l">
              <a:lnSpc>
                <a:spcPct val="115000"/>
              </a:lnSpc>
              <a:spcBef>
                <a:spcPts val="0"/>
              </a:spcBef>
              <a:spcAft>
                <a:spcPts val="0"/>
              </a:spcAft>
              <a:buNone/>
            </a:pPr>
            <a:r>
              <a:t/>
            </a:r>
            <a:endParaRPr sz="800"/>
          </a:p>
          <a:p>
            <a:pPr indent="0" lvl="0" marL="0" marR="0" rtl="0" algn="l">
              <a:lnSpc>
                <a:spcPct val="115000"/>
              </a:lnSpc>
              <a:spcBef>
                <a:spcPts val="0"/>
              </a:spcBef>
              <a:spcAft>
                <a:spcPts val="0"/>
              </a:spcAft>
              <a:buNone/>
            </a:pPr>
            <a:r>
              <a:rPr lang="fr" sz="800">
                <a:solidFill>
                  <a:schemeClr val="lt1"/>
                </a:solidFill>
              </a:rPr>
              <a:t>Renomme-les pour que ce soit plus simple à taper :</a:t>
            </a:r>
            <a:endParaRPr sz="800">
              <a:solidFill>
                <a:schemeClr val="lt1"/>
              </a:solidFill>
            </a:endParaRPr>
          </a:p>
          <a:p>
            <a:pPr indent="0" lvl="0" marL="0" marR="0" rtl="0" algn="l">
              <a:lnSpc>
                <a:spcPct val="115000"/>
              </a:lnSpc>
              <a:spcBef>
                <a:spcPts val="0"/>
              </a:spcBef>
              <a:spcAft>
                <a:spcPts val="0"/>
              </a:spcAft>
              <a:buNone/>
            </a:pPr>
            <a:br>
              <a:rPr lang="fr" sz="800"/>
            </a:br>
            <a:r>
              <a:rPr lang="fr" sz="800">
                <a:solidFill>
                  <a:srgbClr val="38761D"/>
                </a:solidFill>
              </a:rPr>
              <a:t>mv /usr/local/bin/loki-linux-amd64 /usr/local/bin/loki</a:t>
            </a:r>
            <a:endParaRPr sz="800">
              <a:solidFill>
                <a:srgbClr val="38761D"/>
              </a:solidFill>
            </a:endParaRPr>
          </a:p>
          <a:p>
            <a:pPr indent="0" lvl="0" marL="0" marR="0" rtl="0" algn="l">
              <a:lnSpc>
                <a:spcPct val="115000"/>
              </a:lnSpc>
              <a:spcBef>
                <a:spcPts val="0"/>
              </a:spcBef>
              <a:spcAft>
                <a:spcPts val="0"/>
              </a:spcAft>
              <a:buNone/>
            </a:pPr>
            <a:r>
              <a:t/>
            </a:r>
            <a:endParaRPr sz="800">
              <a:solidFill>
                <a:srgbClr val="38761D"/>
              </a:solidFill>
            </a:endParaRPr>
          </a:p>
          <a:p>
            <a:pPr indent="0" lvl="0" marL="0" marR="0" rtl="0" algn="l">
              <a:lnSpc>
                <a:spcPct val="115000"/>
              </a:lnSpc>
              <a:spcBef>
                <a:spcPts val="0"/>
              </a:spcBef>
              <a:spcAft>
                <a:spcPts val="0"/>
              </a:spcAft>
              <a:buNone/>
            </a:pPr>
            <a:r>
              <a:rPr lang="fr" sz="800">
                <a:solidFill>
                  <a:srgbClr val="38761D"/>
                </a:solidFill>
              </a:rPr>
              <a:t>mv /usr/local/bin/promtail-linux-amd64 /usr/local/bin/promtail</a:t>
            </a:r>
            <a:endParaRPr sz="800">
              <a:solidFill>
                <a:srgbClr val="38761D"/>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Pour Aller plus Loin</a:t>
            </a:r>
            <a:endParaRPr/>
          </a:p>
          <a:p>
            <a:pPr indent="0" lvl="0" marL="0" rtl="0" algn="l">
              <a:spcBef>
                <a:spcPts val="0"/>
              </a:spcBef>
              <a:spcAft>
                <a:spcPts val="0"/>
              </a:spcAft>
              <a:buNone/>
            </a:pPr>
            <a:r>
              <a:t/>
            </a:r>
            <a:endParaRPr/>
          </a:p>
        </p:txBody>
      </p:sp>
      <p:sp>
        <p:nvSpPr>
          <p:cNvPr id="325" name="Google Shape;325;p35"/>
          <p:cNvSpPr txBox="1"/>
          <p:nvPr/>
        </p:nvSpPr>
        <p:spPr>
          <a:xfrm>
            <a:off x="165275" y="1458450"/>
            <a:ext cx="3229200" cy="2872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fr" sz="900">
                <a:solidFill>
                  <a:schemeClr val="lt1"/>
                </a:solidFill>
              </a:rPr>
              <a:t>1. Configuration de Promtail :</a:t>
            </a:r>
            <a:endParaRPr sz="900">
              <a:solidFill>
                <a:schemeClr val="lt1"/>
              </a:solidFill>
            </a:endParaRPr>
          </a:p>
          <a:p>
            <a:pPr indent="0" lvl="0" marL="0" marR="0" rtl="0" algn="l">
              <a:lnSpc>
                <a:spcPct val="115000"/>
              </a:lnSpc>
              <a:spcBef>
                <a:spcPts val="0"/>
              </a:spcBef>
              <a:spcAft>
                <a:spcPts val="0"/>
              </a:spcAft>
              <a:buNone/>
            </a:pPr>
            <a:br>
              <a:rPr lang="fr" sz="900"/>
            </a:br>
            <a:r>
              <a:rPr lang="fr" sz="900">
                <a:solidFill>
                  <a:srgbClr val="38761D"/>
                </a:solidFill>
              </a:rPr>
              <a:t>cat &lt;&lt; 'EOF' &gt; /etc/promtail-local-config.yaml server: http_listen_port: 9080 grpc_listen_port: 0 positions: filename: /tmp/positions.yaml clients: - url: http://localhost:3100/loki/api/v1/push scrape_configs: - job_name: ossec_alerts static_configs: - targets: - localhost labels: job: ossec __path__: /var/ossec/logs/alerts/alerts.json EOF </a:t>
            </a:r>
            <a:endParaRPr sz="900">
              <a:solidFill>
                <a:srgbClr val="38761D"/>
              </a:solidFill>
            </a:endParaRPr>
          </a:p>
          <a:p>
            <a:pPr indent="0" lvl="0" marL="0" marR="0" rtl="0" algn="l">
              <a:lnSpc>
                <a:spcPct val="115000"/>
              </a:lnSpc>
              <a:spcBef>
                <a:spcPts val="0"/>
              </a:spcBef>
              <a:spcAft>
                <a:spcPts val="0"/>
              </a:spcAft>
              <a:buNone/>
            </a:pPr>
            <a:r>
              <a:t/>
            </a:r>
            <a:endParaRPr sz="900">
              <a:solidFill>
                <a:schemeClr val="lt1"/>
              </a:solidFill>
            </a:endParaRPr>
          </a:p>
          <a:p>
            <a:pPr indent="0" lvl="0" marL="0" marR="0" rtl="0" algn="l">
              <a:lnSpc>
                <a:spcPct val="115000"/>
              </a:lnSpc>
              <a:spcBef>
                <a:spcPts val="0"/>
              </a:spcBef>
              <a:spcAft>
                <a:spcPts val="0"/>
              </a:spcAft>
              <a:buNone/>
            </a:pPr>
            <a:r>
              <a:rPr lang="fr" sz="900">
                <a:solidFill>
                  <a:schemeClr val="lt1"/>
                </a:solidFill>
              </a:rPr>
              <a:t>2. Configuration de Loki :</a:t>
            </a:r>
            <a:endParaRPr sz="900">
              <a:solidFill>
                <a:schemeClr val="lt1"/>
              </a:solidFill>
            </a:endParaRPr>
          </a:p>
          <a:p>
            <a:pPr indent="0" lvl="0" marL="0" marR="0" rtl="0" algn="l">
              <a:lnSpc>
                <a:spcPct val="115000"/>
              </a:lnSpc>
              <a:spcBef>
                <a:spcPts val="0"/>
              </a:spcBef>
              <a:spcAft>
                <a:spcPts val="0"/>
              </a:spcAft>
              <a:buNone/>
            </a:pPr>
            <a:br>
              <a:rPr lang="fr" sz="900"/>
            </a:br>
            <a:r>
              <a:rPr lang="fr" sz="900">
                <a:solidFill>
                  <a:srgbClr val="38761D"/>
                </a:solidFill>
              </a:rPr>
              <a:t>cat &lt;&lt; 'EOF' &gt; /etc/loki-local-config.yaml auth_enabled: false server: http_listen_port: 3100 grpc_listen_port: 9096 common: instance_addr: 127.0.0.1 path_prefix: /tmp/loki storage: filesystem: chunks_directory: /tmp/loki/chunks rules_directory: /tmp/loki/rules replication_factor: 1 ring: kvstore: store: inmemory schema_config: configs: - from: 2024-01-01 store: tsdb object_store: filesystem schema: v13 index: prefix: index_ period: 24h EOF </a:t>
            </a:r>
            <a:endParaRPr sz="900">
              <a:solidFill>
                <a:srgbClr val="38761D"/>
              </a:solidFill>
            </a:endParaRPr>
          </a:p>
        </p:txBody>
      </p:sp>
      <p:sp>
        <p:nvSpPr>
          <p:cNvPr id="326" name="Google Shape;326;p35"/>
          <p:cNvSpPr txBox="1"/>
          <p:nvPr/>
        </p:nvSpPr>
        <p:spPr>
          <a:xfrm>
            <a:off x="4012450" y="1640050"/>
            <a:ext cx="4574100" cy="175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fr" sz="900">
                <a:solidFill>
                  <a:srgbClr val="38761D"/>
                </a:solidFill>
              </a:rPr>
              <a:t>/usr/local/bin/loki -config.file=/etc/loki-local-config.yaml &gt; /dev/null 2&gt;&amp;1 &amp;</a:t>
            </a:r>
            <a:br>
              <a:rPr b="1" lang="fr" sz="900">
                <a:solidFill>
                  <a:srgbClr val="38761D"/>
                </a:solidFill>
              </a:rPr>
            </a:br>
            <a:endParaRPr b="1" sz="900">
              <a:solidFill>
                <a:srgbClr val="38761D"/>
              </a:solidFill>
            </a:endParaRPr>
          </a:p>
          <a:p>
            <a:pPr indent="0" lvl="0" marL="0" marR="0" rtl="0" algn="l">
              <a:lnSpc>
                <a:spcPct val="115000"/>
              </a:lnSpc>
              <a:spcBef>
                <a:spcPts val="0"/>
              </a:spcBef>
              <a:spcAft>
                <a:spcPts val="0"/>
              </a:spcAft>
              <a:buNone/>
            </a:pPr>
            <a:r>
              <a:rPr lang="fr" sz="900">
                <a:solidFill>
                  <a:srgbClr val="38761D"/>
                </a:solidFill>
              </a:rPr>
              <a:t>/usr/local/bin/promtail -config.file=/etc/promtail-local-config.yaml &gt; /dev/null 2&gt;&amp;1 &amp;</a:t>
            </a:r>
            <a:endParaRPr sz="900">
              <a:solidFill>
                <a:srgbClr val="38761D"/>
              </a:solidFill>
            </a:endParaRPr>
          </a:p>
          <a:p>
            <a:pPr indent="0" lvl="0" marL="0" marR="0" rtl="0" algn="l">
              <a:lnSpc>
                <a:spcPct val="115000"/>
              </a:lnSpc>
              <a:spcBef>
                <a:spcPts val="0"/>
              </a:spcBef>
              <a:spcAft>
                <a:spcPts val="0"/>
              </a:spcAft>
              <a:buNone/>
            </a:pPr>
            <a:br>
              <a:rPr lang="fr" sz="900">
                <a:solidFill>
                  <a:srgbClr val="38761D"/>
                </a:solidFill>
              </a:rPr>
            </a:br>
            <a:r>
              <a:rPr lang="fr" sz="900">
                <a:solidFill>
                  <a:schemeClr val="lt1"/>
                </a:solidFill>
              </a:rPr>
              <a:t>Deux processus Loki (PID 9105) et Promtail (PID 9113) ont bien été lancés en tâche de fond.</a:t>
            </a:r>
            <a:br>
              <a:rPr lang="fr" sz="900"/>
            </a:br>
            <a:r>
              <a:rPr lang="fr" sz="900">
                <a:solidFill>
                  <a:srgbClr val="38761D"/>
                </a:solidFill>
              </a:rPr>
              <a:t>ss -tnlp | grep -E "3000|3100|9080"</a:t>
            </a:r>
            <a:endParaRPr sz="900">
              <a:solidFill>
                <a:srgbClr val="38761D"/>
              </a:solidFill>
            </a:endParaRPr>
          </a:p>
          <a:p>
            <a:pPr indent="0" lvl="0" marL="0" marR="0" rtl="0" algn="l">
              <a:lnSpc>
                <a:spcPct val="115000"/>
              </a:lnSpc>
              <a:spcBef>
                <a:spcPts val="0"/>
              </a:spcBef>
              <a:spcAft>
                <a:spcPts val="0"/>
              </a:spcAft>
              <a:buNone/>
            </a:pPr>
            <a:br>
              <a:rPr lang="fr" sz="900">
                <a:solidFill>
                  <a:srgbClr val="38761D"/>
                </a:solidFill>
              </a:rPr>
            </a:br>
            <a:r>
              <a:rPr b="1" lang="fr" sz="900">
                <a:solidFill>
                  <a:srgbClr val="188038"/>
                </a:solidFill>
                <a:latin typeface="Roboto Mono"/>
                <a:ea typeface="Roboto Mono"/>
                <a:cs typeface="Roboto Mono"/>
                <a:sym typeface="Roboto Mono"/>
              </a:rPr>
              <a:t>:3000</a:t>
            </a:r>
            <a:r>
              <a:rPr lang="fr" sz="900">
                <a:solidFill>
                  <a:srgbClr val="38761D"/>
                </a:solidFill>
              </a:rPr>
              <a:t> : Grafana qui attend que tu te connectes sur son interface web.</a:t>
            </a:r>
            <a:endParaRPr sz="900">
              <a:solidFill>
                <a:srgbClr val="38761D"/>
              </a:solidFill>
            </a:endParaRPr>
          </a:p>
          <a:p>
            <a:pPr indent="0" lvl="0" marL="0" marR="0" rtl="0" algn="l">
              <a:lnSpc>
                <a:spcPct val="115000"/>
              </a:lnSpc>
              <a:spcBef>
                <a:spcPts val="0"/>
              </a:spcBef>
              <a:spcAft>
                <a:spcPts val="0"/>
              </a:spcAft>
              <a:buNone/>
            </a:pPr>
            <a:r>
              <a:rPr b="1" lang="fr" sz="900">
                <a:solidFill>
                  <a:srgbClr val="188038"/>
                </a:solidFill>
                <a:latin typeface="Roboto Mono"/>
                <a:ea typeface="Roboto Mono"/>
                <a:cs typeface="Roboto Mono"/>
                <a:sym typeface="Roboto Mono"/>
              </a:rPr>
              <a:t>:3100</a:t>
            </a:r>
            <a:r>
              <a:rPr lang="fr" sz="900">
                <a:solidFill>
                  <a:srgbClr val="38761D"/>
                </a:solidFill>
              </a:rPr>
              <a:t> : Loki qui est prêt à recevoir et stocker les logs.</a:t>
            </a:r>
            <a:endParaRPr sz="900">
              <a:solidFill>
                <a:srgbClr val="38761D"/>
              </a:solidFill>
            </a:endParaRPr>
          </a:p>
          <a:p>
            <a:pPr indent="0" lvl="0" marL="0" marR="0" rtl="0" algn="l">
              <a:lnSpc>
                <a:spcPct val="115000"/>
              </a:lnSpc>
              <a:spcBef>
                <a:spcPts val="0"/>
              </a:spcBef>
              <a:spcAft>
                <a:spcPts val="0"/>
              </a:spcAft>
              <a:buNone/>
            </a:pPr>
            <a:r>
              <a:rPr b="1" lang="fr" sz="900">
                <a:solidFill>
                  <a:srgbClr val="188038"/>
                </a:solidFill>
                <a:latin typeface="Roboto Mono"/>
                <a:ea typeface="Roboto Mono"/>
                <a:cs typeface="Roboto Mono"/>
                <a:sym typeface="Roboto Mono"/>
              </a:rPr>
              <a:t>:9080</a:t>
            </a:r>
            <a:r>
              <a:rPr lang="fr" sz="900">
                <a:solidFill>
                  <a:srgbClr val="38761D"/>
                </a:solidFill>
              </a:rPr>
              <a:t> : Promtail qui tourne pour surveiller tes fichiers.</a:t>
            </a:r>
            <a:endParaRPr sz="900">
              <a:solidFill>
                <a:srgbClr val="38761D"/>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6"/>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Pour Aller plus Loin</a:t>
            </a:r>
            <a:endParaRPr/>
          </a:p>
          <a:p>
            <a:pPr indent="0" lvl="0" marL="0" rtl="0" algn="l">
              <a:spcBef>
                <a:spcPts val="0"/>
              </a:spcBef>
              <a:spcAft>
                <a:spcPts val="0"/>
              </a:spcAft>
              <a:buNone/>
            </a:pPr>
            <a:r>
              <a:t/>
            </a:r>
            <a:endParaRPr/>
          </a:p>
        </p:txBody>
      </p:sp>
      <p:sp>
        <p:nvSpPr>
          <p:cNvPr id="332" name="Google Shape;332;p36"/>
          <p:cNvSpPr txBox="1"/>
          <p:nvPr/>
        </p:nvSpPr>
        <p:spPr>
          <a:xfrm>
            <a:off x="213900" y="1307850"/>
            <a:ext cx="4113900" cy="206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fr" sz="800">
                <a:solidFill>
                  <a:schemeClr val="lt1"/>
                </a:solidFill>
              </a:rPr>
              <a:t>Ouvre ton navigateur et saisis l'adresse : </a:t>
            </a:r>
            <a:r>
              <a:rPr lang="fr" sz="800">
                <a:solidFill>
                  <a:srgbClr val="188038"/>
                </a:solidFill>
                <a:latin typeface="Roboto Mono"/>
                <a:ea typeface="Roboto Mono"/>
                <a:cs typeface="Roboto Mono"/>
                <a:sym typeface="Roboto Mono"/>
              </a:rPr>
              <a:t>http://IP_DE_TA_DEBIAN:3000</a:t>
            </a:r>
            <a:endParaRPr sz="8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None/>
            </a:pPr>
            <a:r>
              <a:rPr lang="fr" sz="800">
                <a:solidFill>
                  <a:schemeClr val="lt1"/>
                </a:solidFill>
              </a:rPr>
              <a:t>Connecte-toi avec</a:t>
            </a:r>
            <a:r>
              <a:rPr lang="fr" sz="800"/>
              <a:t> </a:t>
            </a:r>
            <a:r>
              <a:rPr b="1" lang="fr" sz="800">
                <a:solidFill>
                  <a:srgbClr val="188038"/>
                </a:solidFill>
                <a:latin typeface="Roboto Mono"/>
                <a:ea typeface="Roboto Mono"/>
                <a:cs typeface="Roboto Mono"/>
                <a:sym typeface="Roboto Mono"/>
              </a:rPr>
              <a:t>admin</a:t>
            </a:r>
            <a:r>
              <a:rPr lang="fr" sz="800"/>
              <a:t> / </a:t>
            </a:r>
            <a:r>
              <a:rPr b="1" lang="fr" sz="800">
                <a:solidFill>
                  <a:srgbClr val="188038"/>
                </a:solidFill>
                <a:latin typeface="Roboto Mono"/>
                <a:ea typeface="Roboto Mono"/>
                <a:cs typeface="Roboto Mono"/>
                <a:sym typeface="Roboto Mono"/>
              </a:rPr>
              <a:t>admin</a:t>
            </a:r>
            <a:r>
              <a:rPr lang="fr" sz="800"/>
              <a:t> </a:t>
            </a:r>
            <a:r>
              <a:rPr lang="fr" sz="800">
                <a:solidFill>
                  <a:schemeClr val="lt1"/>
                </a:solidFill>
              </a:rPr>
              <a:t>(puis change le mot de passe).</a:t>
            </a:r>
            <a:endParaRPr sz="800">
              <a:solidFill>
                <a:schemeClr val="lt1"/>
              </a:solidFill>
            </a:endParaRPr>
          </a:p>
          <a:p>
            <a:pPr indent="0" lvl="0" marL="0" rtl="0" algn="l">
              <a:lnSpc>
                <a:spcPct val="115000"/>
              </a:lnSpc>
              <a:spcBef>
                <a:spcPts val="1200"/>
              </a:spcBef>
              <a:spcAft>
                <a:spcPts val="0"/>
              </a:spcAft>
              <a:buNone/>
            </a:pPr>
            <a:r>
              <a:rPr lang="fr" sz="800">
                <a:solidFill>
                  <a:schemeClr val="lt1"/>
                </a:solidFill>
              </a:rPr>
              <a:t>Va dans </a:t>
            </a:r>
            <a:r>
              <a:rPr b="1" lang="fr" sz="800">
                <a:solidFill>
                  <a:schemeClr val="lt1"/>
                </a:solidFill>
              </a:rPr>
              <a:t>Connections</a:t>
            </a:r>
            <a:r>
              <a:rPr lang="fr" sz="800">
                <a:solidFill>
                  <a:schemeClr val="lt1"/>
                </a:solidFill>
              </a:rPr>
              <a:t> ➔ </a:t>
            </a:r>
            <a:r>
              <a:rPr b="1" lang="fr" sz="800">
                <a:solidFill>
                  <a:schemeClr val="lt1"/>
                </a:solidFill>
              </a:rPr>
              <a:t>Data Sources</a:t>
            </a:r>
            <a:r>
              <a:rPr lang="fr" sz="800">
                <a:solidFill>
                  <a:schemeClr val="lt1"/>
                </a:solidFill>
              </a:rPr>
              <a:t> ➔ </a:t>
            </a:r>
            <a:r>
              <a:rPr b="1" lang="fr" sz="800">
                <a:solidFill>
                  <a:schemeClr val="lt1"/>
                </a:solidFill>
              </a:rPr>
              <a:t>Add data source</a:t>
            </a:r>
            <a:r>
              <a:rPr lang="fr" sz="800">
                <a:solidFill>
                  <a:schemeClr val="lt1"/>
                </a:solidFill>
              </a:rPr>
              <a:t> ➔ Choisis </a:t>
            </a:r>
            <a:r>
              <a:rPr b="1" lang="fr" sz="800">
                <a:solidFill>
                  <a:schemeClr val="lt1"/>
                </a:solidFill>
              </a:rPr>
              <a:t>Loki</a:t>
            </a:r>
            <a:r>
              <a:rPr lang="fr" sz="800">
                <a:solidFill>
                  <a:schemeClr val="lt1"/>
                </a:solidFill>
              </a:rPr>
              <a:t>.</a:t>
            </a:r>
            <a:endParaRPr sz="800">
              <a:solidFill>
                <a:schemeClr val="lt1"/>
              </a:solidFill>
            </a:endParaRPr>
          </a:p>
          <a:p>
            <a:pPr indent="0" lvl="0" marL="0" rtl="0" algn="l">
              <a:lnSpc>
                <a:spcPct val="115000"/>
              </a:lnSpc>
              <a:spcBef>
                <a:spcPts val="1200"/>
              </a:spcBef>
              <a:spcAft>
                <a:spcPts val="0"/>
              </a:spcAft>
              <a:buNone/>
            </a:pPr>
            <a:r>
              <a:rPr lang="fr" sz="800">
                <a:solidFill>
                  <a:schemeClr val="lt1"/>
                </a:solidFill>
              </a:rPr>
              <a:t>Entre l'URL :</a:t>
            </a:r>
            <a:r>
              <a:rPr lang="fr" sz="800"/>
              <a:t> </a:t>
            </a:r>
            <a:r>
              <a:rPr lang="fr" sz="800">
                <a:solidFill>
                  <a:srgbClr val="188038"/>
                </a:solidFill>
                <a:latin typeface="Roboto Mono"/>
                <a:ea typeface="Roboto Mono"/>
                <a:cs typeface="Roboto Mono"/>
                <a:sym typeface="Roboto Mono"/>
              </a:rPr>
              <a:t>http://localhost:3100</a:t>
            </a:r>
            <a:endParaRPr sz="8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None/>
            </a:pPr>
            <a:r>
              <a:rPr lang="fr" sz="800">
                <a:solidFill>
                  <a:schemeClr val="lt1"/>
                </a:solidFill>
              </a:rPr>
              <a:t>Clique tout en bas sur </a:t>
            </a:r>
            <a:r>
              <a:rPr b="1" lang="fr" sz="800">
                <a:solidFill>
                  <a:schemeClr val="lt1"/>
                </a:solidFill>
              </a:rPr>
              <a:t>Save &amp; test</a:t>
            </a:r>
            <a:r>
              <a:rPr lang="fr" sz="800">
                <a:solidFill>
                  <a:schemeClr val="lt1"/>
                </a:solidFill>
              </a:rPr>
              <a:t>.</a:t>
            </a:r>
            <a:endParaRPr sz="800">
              <a:solidFill>
                <a:schemeClr val="lt1"/>
              </a:solidFill>
            </a:endParaRPr>
          </a:p>
          <a:p>
            <a:pPr indent="0" lvl="0" marL="0" rtl="0" algn="l">
              <a:lnSpc>
                <a:spcPct val="115000"/>
              </a:lnSpc>
              <a:spcBef>
                <a:spcPts val="1200"/>
              </a:spcBef>
              <a:spcAft>
                <a:spcPts val="1200"/>
              </a:spcAft>
              <a:buNone/>
            </a:pPr>
            <a:r>
              <a:rPr lang="fr" sz="800">
                <a:solidFill>
                  <a:schemeClr val="lt1"/>
                </a:solidFill>
              </a:rPr>
              <a:t>Une fois que c'est fait, tu pourras aller dans l'onglet </a:t>
            </a:r>
            <a:r>
              <a:rPr b="1" lang="fr" sz="800">
                <a:solidFill>
                  <a:schemeClr val="lt1"/>
                </a:solidFill>
              </a:rPr>
              <a:t>Explore</a:t>
            </a:r>
            <a:r>
              <a:rPr lang="fr" sz="800">
                <a:solidFill>
                  <a:schemeClr val="lt1"/>
                </a:solidFill>
              </a:rPr>
              <a:t> (la petite boussole à gauche), sélectionner ta source Loki, et chercher </a:t>
            </a:r>
            <a:r>
              <a:rPr lang="fr" sz="800">
                <a:solidFill>
                  <a:srgbClr val="188038"/>
                </a:solidFill>
                <a:latin typeface="Roboto Mono"/>
                <a:ea typeface="Roboto Mono"/>
                <a:cs typeface="Roboto Mono"/>
                <a:sym typeface="Roboto Mono"/>
              </a:rPr>
              <a:t>{job="ossec"}</a:t>
            </a:r>
            <a:r>
              <a:rPr lang="fr" sz="800"/>
              <a:t> </a:t>
            </a:r>
            <a:r>
              <a:rPr lang="fr" sz="800">
                <a:solidFill>
                  <a:schemeClr val="lt1"/>
                </a:solidFill>
              </a:rPr>
              <a:t>pour voir tes alertes de sécurité s'afficher en direct.</a:t>
            </a:r>
            <a:endParaRPr sz="1000">
              <a:solidFill>
                <a:schemeClr val="lt1"/>
              </a:solidFill>
            </a:endParaRPr>
          </a:p>
        </p:txBody>
      </p:sp>
      <p:pic>
        <p:nvPicPr>
          <p:cNvPr id="333" name="Google Shape;333;p36"/>
          <p:cNvPicPr preferRelativeResize="0"/>
          <p:nvPr/>
        </p:nvPicPr>
        <p:blipFill>
          <a:blip r:embed="rId3">
            <a:alphaModFix/>
          </a:blip>
          <a:stretch>
            <a:fillRect/>
          </a:stretch>
        </p:blipFill>
        <p:spPr>
          <a:xfrm>
            <a:off x="281975" y="3315675"/>
            <a:ext cx="3287475" cy="1681975"/>
          </a:xfrm>
          <a:prstGeom prst="rect">
            <a:avLst/>
          </a:prstGeom>
          <a:noFill/>
          <a:ln>
            <a:noFill/>
          </a:ln>
        </p:spPr>
      </p:pic>
      <p:sp>
        <p:nvSpPr>
          <p:cNvPr id="334" name="Google Shape;334;p36"/>
          <p:cNvSpPr txBox="1"/>
          <p:nvPr/>
        </p:nvSpPr>
        <p:spPr>
          <a:xfrm>
            <a:off x="4524625" y="1189600"/>
            <a:ext cx="4052100" cy="51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1000">
                <a:solidFill>
                  <a:schemeClr val="lt1"/>
                </a:solidFill>
              </a:rPr>
              <a:t>S</a:t>
            </a:r>
            <a:r>
              <a:rPr lang="fr" sz="1000">
                <a:solidFill>
                  <a:schemeClr val="lt1"/>
                </a:solidFill>
              </a:rPr>
              <a:t>uite au error voulu sur la partie client on peut remarquer que les logs remontent sur le serveur voir ci dessous </a:t>
            </a:r>
            <a:endParaRPr sz="1000">
              <a:solidFill>
                <a:schemeClr val="lt1"/>
              </a:solidFill>
            </a:endParaRPr>
          </a:p>
        </p:txBody>
      </p:sp>
      <p:pic>
        <p:nvPicPr>
          <p:cNvPr id="335" name="Google Shape;335;p36"/>
          <p:cNvPicPr preferRelativeResize="0"/>
          <p:nvPr/>
        </p:nvPicPr>
        <p:blipFill>
          <a:blip r:embed="rId4">
            <a:alphaModFix/>
          </a:blip>
          <a:stretch>
            <a:fillRect/>
          </a:stretch>
        </p:blipFill>
        <p:spPr>
          <a:xfrm>
            <a:off x="4572000" y="1766650"/>
            <a:ext cx="2298190" cy="1844225"/>
          </a:xfrm>
          <a:prstGeom prst="rect">
            <a:avLst/>
          </a:prstGeom>
          <a:noFill/>
          <a:ln>
            <a:noFill/>
          </a:ln>
        </p:spPr>
      </p:pic>
      <p:pic>
        <p:nvPicPr>
          <p:cNvPr id="336" name="Google Shape;336;p36"/>
          <p:cNvPicPr preferRelativeResize="0"/>
          <p:nvPr/>
        </p:nvPicPr>
        <p:blipFill rotWithShape="1">
          <a:blip r:embed="rId5">
            <a:alphaModFix/>
          </a:blip>
          <a:srcRect b="0" l="0" r="0" t="6716"/>
          <a:stretch/>
        </p:blipFill>
        <p:spPr>
          <a:xfrm>
            <a:off x="4572000" y="3716375"/>
            <a:ext cx="2631026" cy="12812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